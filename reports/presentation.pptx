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consolata"/>
      <p:regular r:id="rId17"/>
    </p:embeddedFont>
    <p:embeddedFont>
      <p:font typeface="Inconsolata"/>
      <p:regular r:id="rId18"/>
    </p:embeddedFont>
    <p:embeddedFont>
      <p:font typeface="Fira Sans"/>
      <p:regular r:id="rId19"/>
    </p:embeddedFont>
    <p:embeddedFont>
      <p:font typeface="Fira Sans"/>
      <p:regular r:id="rId20"/>
    </p:embeddedFont>
    <p:embeddedFont>
      <p:font typeface="Fira Sans"/>
      <p:regular r:id="rId21"/>
    </p:embeddedFont>
    <p:embeddedFont>
      <p:font typeface="Fira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slideLayout" Target="../slideLayouts/slideLayout10.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487573"/>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Healthcare Provider Fraud Detection</a:t>
            </a:r>
            <a:endParaRPr lang="en-US" sz="3900" dirty="0"/>
          </a:p>
        </p:txBody>
      </p:sp>
      <p:sp>
        <p:nvSpPr>
          <p:cNvPr id="4" name="Text 1"/>
          <p:cNvSpPr/>
          <p:nvPr/>
        </p:nvSpPr>
        <p:spPr>
          <a:xfrm>
            <a:off x="793790" y="4025384"/>
            <a:ext cx="7556421" cy="317540"/>
          </a:xfrm>
          <a:prstGeom prst="rect">
            <a:avLst/>
          </a:prstGeom>
          <a:noFill/>
          <a:ln/>
        </p:spPr>
        <p:txBody>
          <a:bodyPr wrap="none" lIns="0" tIns="0" rIns="0" bIns="0" rtlCol="0" anchor="t"/>
          <a:lstStyle/>
          <a:p>
            <a:pPr algn="l" indent="0" marL="0">
              <a:lnSpc>
                <a:spcPts val="2500"/>
              </a:lnSpc>
              <a:buNone/>
            </a:pPr>
            <a:r>
              <a:rPr lang="en-US" sz="1550" b="1" dirty="0">
                <a:solidFill>
                  <a:srgbClr val="DAD1E6"/>
                </a:solidFill>
                <a:latin typeface="Fira Sans" pitchFamily="34" charset="0"/>
                <a:ea typeface="Fira Sans" pitchFamily="34" charset="-122"/>
                <a:cs typeface="Fira Sans" pitchFamily="34" charset="-120"/>
              </a:rPr>
              <a:t>DataOrbit Project for Medicare</a:t>
            </a:r>
            <a:endParaRPr lang="en-US" sz="1550" dirty="0"/>
          </a:p>
        </p:txBody>
      </p:sp>
      <p:sp>
        <p:nvSpPr>
          <p:cNvPr id="5" name="Text 2"/>
          <p:cNvSpPr/>
          <p:nvPr/>
        </p:nvSpPr>
        <p:spPr>
          <a:xfrm>
            <a:off x="793790" y="4566166"/>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DAD1E6"/>
                </a:solidFill>
                <a:latin typeface="Fira Sans" pitchFamily="34" charset="0"/>
                <a:ea typeface="Fira Sans" pitchFamily="34" charset="-122"/>
                <a:cs typeface="Fira Sans" pitchFamily="34" charset="-120"/>
              </a:rPr>
              <a:t>A machine learning approach to identifying high-risk providers and protecting Medicare beneficiaries</a:t>
            </a:r>
            <a:endParaRPr lang="en-US" sz="1550" dirty="0"/>
          </a:p>
        </p:txBody>
      </p:sp>
      <p:sp>
        <p:nvSpPr>
          <p:cNvPr id="6" name="Text 3"/>
          <p:cNvSpPr/>
          <p:nvPr/>
        </p:nvSpPr>
        <p:spPr>
          <a:xfrm>
            <a:off x="793790" y="5424488"/>
            <a:ext cx="7556421" cy="317540"/>
          </a:xfrm>
          <a:prstGeom prst="rect">
            <a:avLst/>
          </a:prstGeom>
          <a:noFill/>
          <a:ln/>
        </p:spPr>
        <p:txBody>
          <a:bodyPr wrap="none" lIns="0" tIns="0" rIns="0" bIns="0" rtlCol="0" anchor="t"/>
          <a:lstStyle/>
          <a:p>
            <a:pPr algn="l" indent="0" marL="0">
              <a:lnSpc>
                <a:spcPts val="2500"/>
              </a:lnSpc>
              <a:buNone/>
            </a:pPr>
            <a:r>
              <a:rPr lang="en-US" sz="1550" dirty="0">
                <a:solidFill>
                  <a:srgbClr val="DAD1E6"/>
                </a:solidFill>
                <a:latin typeface="Fira Sans" pitchFamily="34" charset="0"/>
                <a:ea typeface="Fira Sans" pitchFamily="34" charset="-122"/>
                <a:cs typeface="Fira Sans" pitchFamily="34" charset="-120"/>
              </a:rPr>
              <a:t>December 2025</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7096" y="396716"/>
            <a:ext cx="4147423" cy="450890"/>
          </a:xfrm>
          <a:prstGeom prst="rect">
            <a:avLst/>
          </a:prstGeom>
          <a:noFill/>
          <a:ln/>
        </p:spPr>
        <p:txBody>
          <a:bodyPr wrap="none" lIns="0" tIns="0" rIns="0" bIns="0" rtlCol="0" anchor="t"/>
          <a:lstStyle/>
          <a:p>
            <a:pPr algn="l" indent="0" marL="0">
              <a:lnSpc>
                <a:spcPts val="3550"/>
              </a:lnSpc>
              <a:buNone/>
            </a:pPr>
            <a:r>
              <a:rPr lang="en-US" sz="2800" b="1" dirty="0">
                <a:solidFill>
                  <a:srgbClr val="F94CAF"/>
                </a:solidFill>
                <a:latin typeface="Inconsolata Bold" pitchFamily="34" charset="0"/>
                <a:ea typeface="Inconsolata Bold" pitchFamily="34" charset="-122"/>
                <a:cs typeface="Inconsolata Bold" pitchFamily="34" charset="-120"/>
              </a:rPr>
              <a:t>The $68 Billion Problem</a:t>
            </a:r>
            <a:endParaRPr lang="en-US" sz="2800" dirty="0"/>
          </a:p>
        </p:txBody>
      </p:sp>
      <p:sp>
        <p:nvSpPr>
          <p:cNvPr id="3" name="Text 1"/>
          <p:cNvSpPr/>
          <p:nvPr/>
        </p:nvSpPr>
        <p:spPr>
          <a:xfrm>
            <a:off x="577096" y="1193721"/>
            <a:ext cx="6562130" cy="692587"/>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Healthcare fraud represents one of the most significant financial challenges facing Medicare today, with </a:t>
            </a:r>
            <a:pPr algn="l" indent="0" marL="0">
              <a:lnSpc>
                <a:spcPts val="1800"/>
              </a:lnSpc>
              <a:buNone/>
            </a:pPr>
            <a:r>
              <a:rPr lang="en-US" sz="1100" b="1" dirty="0">
                <a:solidFill>
                  <a:srgbClr val="DAD1E6"/>
                </a:solidFill>
                <a:latin typeface="Fira Sans" pitchFamily="34" charset="0"/>
                <a:ea typeface="Fira Sans" pitchFamily="34" charset="-122"/>
                <a:cs typeface="Fira Sans" pitchFamily="34" charset="-120"/>
              </a:rPr>
              <a:t>annual losses exceeding $68 billion</a:t>
            </a:r>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 These fraudulent activities not only drain critical resources from legitimate patient care but also undermine public trust in our healthcare system.</a:t>
            </a:r>
            <a:endParaRPr lang="en-US" sz="1100" dirty="0"/>
          </a:p>
        </p:txBody>
      </p:sp>
      <p:sp>
        <p:nvSpPr>
          <p:cNvPr id="4" name="Text 2"/>
          <p:cNvSpPr/>
          <p:nvPr/>
        </p:nvSpPr>
        <p:spPr>
          <a:xfrm>
            <a:off x="577096" y="2016085"/>
            <a:ext cx="6562130" cy="92344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Current detection methods rely heavily on </a:t>
            </a:r>
            <a:pPr algn="l" indent="0" marL="0">
              <a:lnSpc>
                <a:spcPts val="1800"/>
              </a:lnSpc>
              <a:buNone/>
            </a:pPr>
            <a:r>
              <a:rPr lang="en-US" sz="1100" b="1" dirty="0">
                <a:solidFill>
                  <a:srgbClr val="DAD1E6"/>
                </a:solidFill>
                <a:latin typeface="Fira Sans" pitchFamily="34" charset="0"/>
                <a:ea typeface="Fira Sans" pitchFamily="34" charset="-122"/>
                <a:cs typeface="Fira Sans" pitchFamily="34" charset="-120"/>
              </a:rPr>
              <a:t>rule-based systems that struggle to identify sophisticated fraud schemes</a:t>
            </a:r>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 These legacy approaches generate thousands of alerts, but CMS investigators can only examine a small fraction of suspicious cases due to limited resources and time constraints.</a:t>
            </a:r>
            <a:endParaRPr lang="en-US" sz="1100" dirty="0"/>
          </a:p>
        </p:txBody>
      </p:sp>
      <p:sp>
        <p:nvSpPr>
          <p:cNvPr id="5" name="Text 3"/>
          <p:cNvSpPr/>
          <p:nvPr/>
        </p:nvSpPr>
        <p:spPr>
          <a:xfrm>
            <a:off x="577096" y="3069312"/>
            <a:ext cx="6562130" cy="92344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The challenge is clear: </a:t>
            </a:r>
            <a:pPr algn="l" indent="0" marL="0">
              <a:lnSpc>
                <a:spcPts val="1800"/>
              </a:lnSpc>
              <a:buNone/>
            </a:pPr>
            <a:r>
              <a:rPr lang="en-US" sz="1100" b="1" dirty="0">
                <a:solidFill>
                  <a:srgbClr val="DAD1E6"/>
                </a:solidFill>
                <a:latin typeface="Fira Sans" pitchFamily="34" charset="0"/>
                <a:ea typeface="Fira Sans" pitchFamily="34" charset="-122"/>
                <a:cs typeface="Fira Sans" pitchFamily="34" charset="-120"/>
              </a:rPr>
              <a:t>how do we identify the highest-risk providers while minimizing false positives</a:t>
            </a:r>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 that waste investigative resources? Our project addresses this critical need through advanced machine learning techniques designed specifically for the complexities of Medicare claims data.</a:t>
            </a:r>
            <a:endParaRPr lang="en-US" sz="1100" dirty="0"/>
          </a:p>
        </p:txBody>
      </p:sp>
      <p:pic>
        <p:nvPicPr>
          <p:cNvPr id="6" name="Image 0" descr="preencoded.png">    </p:cNvPr>
          <p:cNvPicPr>
            <a:picLocks noChangeAspect="1"/>
          </p:cNvPicPr>
          <p:nvPr/>
        </p:nvPicPr>
        <p:blipFill>
          <a:blip r:embed="rId1"/>
          <a:stretch>
            <a:fillRect/>
          </a:stretch>
        </p:blipFill>
        <p:spPr>
          <a:xfrm>
            <a:off x="7498794" y="1226225"/>
            <a:ext cx="6562130" cy="6562130"/>
          </a:xfrm>
          <a:prstGeom prst="rect">
            <a:avLst/>
          </a:prstGeom>
        </p:spPr>
      </p:pic>
      <p:sp>
        <p:nvSpPr>
          <p:cNvPr id="7" name="Shape 4"/>
          <p:cNvSpPr/>
          <p:nvPr/>
        </p:nvSpPr>
        <p:spPr>
          <a:xfrm>
            <a:off x="7498794" y="7950637"/>
            <a:ext cx="6562130" cy="843677"/>
          </a:xfrm>
          <a:prstGeom prst="roundRect">
            <a:avLst>
              <a:gd name="adj" fmla="val 2565"/>
            </a:avLst>
          </a:prstGeom>
          <a:solidFill>
            <a:srgbClr val="4A022B"/>
          </a:solidFill>
          <a:ln/>
        </p:spPr>
      </p:sp>
      <p:pic>
        <p:nvPicPr>
          <p:cNvPr id="8" name="Image 1" descr="preencoded.png">    </p:cNvPr>
          <p:cNvPicPr>
            <a:picLocks noChangeAspect="1"/>
          </p:cNvPicPr>
          <p:nvPr/>
        </p:nvPicPr>
        <p:blipFill>
          <a:blip r:embed="rId2"/>
          <a:stretch>
            <a:fillRect/>
          </a:stretch>
        </p:blipFill>
        <p:spPr>
          <a:xfrm>
            <a:off x="7642979" y="8164592"/>
            <a:ext cx="180261" cy="144185"/>
          </a:xfrm>
          <a:prstGeom prst="rect">
            <a:avLst/>
          </a:prstGeom>
        </p:spPr>
      </p:pic>
      <p:sp>
        <p:nvSpPr>
          <p:cNvPr id="9" name="Text 5"/>
          <p:cNvSpPr/>
          <p:nvPr/>
        </p:nvSpPr>
        <p:spPr>
          <a:xfrm>
            <a:off x="7967424" y="8130778"/>
            <a:ext cx="5949315" cy="461724"/>
          </a:xfrm>
          <a:prstGeom prst="rect">
            <a:avLst/>
          </a:prstGeom>
          <a:noFill/>
          <a:ln/>
        </p:spPr>
        <p:txBody>
          <a:bodyPr wrap="square" lIns="0" tIns="0" rIns="0" bIns="0" rtlCol="0" anchor="t"/>
          <a:lstStyle/>
          <a:p>
            <a:pPr algn="l" indent="0" marL="0">
              <a:lnSpc>
                <a:spcPts val="1800"/>
              </a:lnSpc>
              <a:buNone/>
            </a:pPr>
            <a:r>
              <a:rPr lang="en-US" sz="1100" b="1" dirty="0">
                <a:solidFill>
                  <a:srgbClr val="FFFFFF"/>
                </a:solidFill>
                <a:latin typeface="Fira Sans" pitchFamily="34" charset="0"/>
                <a:ea typeface="Fira Sans" pitchFamily="34" charset="-122"/>
                <a:cs typeface="Fira Sans" pitchFamily="34" charset="-120"/>
              </a:rPr>
              <a:t>Key Challenge:</a:t>
            </a:r>
            <a:pPr algn="l" indent="0" marL="0">
              <a:lnSpc>
                <a:spcPts val="1800"/>
              </a:lnSpc>
              <a:buNone/>
            </a:pPr>
            <a:r>
              <a:rPr lang="en-US" sz="1100" dirty="0">
                <a:solidFill>
                  <a:srgbClr val="FFFFFF"/>
                </a:solidFill>
                <a:latin typeface="Fira Sans" pitchFamily="34" charset="0"/>
                <a:ea typeface="Fira Sans" pitchFamily="34" charset="-122"/>
                <a:cs typeface="Fira Sans" pitchFamily="34" charset="-120"/>
              </a:rPr>
              <a:t> Balancing fraud detection accuracy with investigation efficiency to maximize impact on taxpayer dollars and patient safety.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3286" y="394097"/>
            <a:ext cx="5732264" cy="447913"/>
          </a:xfrm>
          <a:prstGeom prst="rect">
            <a:avLst/>
          </a:prstGeom>
          <a:noFill/>
          <a:ln/>
        </p:spPr>
        <p:txBody>
          <a:bodyPr wrap="none" lIns="0" tIns="0" rIns="0" bIns="0" rtlCol="0" anchor="t"/>
          <a:lstStyle/>
          <a:p>
            <a:pPr algn="l" indent="0" marL="0">
              <a:lnSpc>
                <a:spcPts val="3500"/>
              </a:lnSpc>
              <a:buNone/>
            </a:pPr>
            <a:r>
              <a:rPr lang="en-US" sz="2800" b="1" dirty="0">
                <a:solidFill>
                  <a:srgbClr val="F94CAF"/>
                </a:solidFill>
                <a:latin typeface="Inconsolata Bold" pitchFamily="34" charset="0"/>
                <a:ea typeface="Inconsolata Bold" pitchFamily="34" charset="-122"/>
                <a:cs typeface="Inconsolata Bold" pitchFamily="34" charset="-120"/>
              </a:rPr>
              <a:t>Understanding Our Data Landscape</a:t>
            </a:r>
            <a:endParaRPr lang="en-US" sz="2800" dirty="0"/>
          </a:p>
        </p:txBody>
      </p:sp>
      <p:sp>
        <p:nvSpPr>
          <p:cNvPr id="3" name="Shape 1"/>
          <p:cNvSpPr/>
          <p:nvPr/>
        </p:nvSpPr>
        <p:spPr>
          <a:xfrm>
            <a:off x="573286" y="1128593"/>
            <a:ext cx="4399121" cy="1055013"/>
          </a:xfrm>
          <a:prstGeom prst="roundRect">
            <a:avLst>
              <a:gd name="adj" fmla="val 2038"/>
            </a:avLst>
          </a:prstGeom>
          <a:solidFill>
            <a:srgbClr val="433550"/>
          </a:solidFill>
          <a:ln/>
        </p:spPr>
      </p:sp>
      <p:sp>
        <p:nvSpPr>
          <p:cNvPr id="4" name="Text 2"/>
          <p:cNvSpPr/>
          <p:nvPr/>
        </p:nvSpPr>
        <p:spPr>
          <a:xfrm>
            <a:off x="716518" y="1271826"/>
            <a:ext cx="1791772" cy="223957"/>
          </a:xfrm>
          <a:prstGeom prst="rect">
            <a:avLst/>
          </a:prstGeom>
          <a:noFill/>
          <a:ln/>
        </p:spPr>
        <p:txBody>
          <a:bodyPr wrap="none" lIns="0" tIns="0" rIns="0" bIns="0" rtlCol="0" anchor="t"/>
          <a:lstStyle/>
          <a:p>
            <a:pPr algn="l" indent="0" marL="0">
              <a:lnSpc>
                <a:spcPts val="1750"/>
              </a:lnSpc>
              <a:buNone/>
            </a:pPr>
            <a:r>
              <a:rPr lang="en-US" sz="1400" b="1" dirty="0">
                <a:solidFill>
                  <a:srgbClr val="DAD1E6"/>
                </a:solidFill>
                <a:latin typeface="Inconsolata Bold" pitchFamily="34" charset="0"/>
                <a:ea typeface="Inconsolata Bold" pitchFamily="34" charset="-122"/>
                <a:cs typeface="Inconsolata Bold" pitchFamily="34" charset="-120"/>
              </a:rPr>
              <a:t>138,556 Patients</a:t>
            </a:r>
            <a:endParaRPr lang="en-US" sz="1400" dirty="0"/>
          </a:p>
        </p:txBody>
      </p:sp>
      <p:sp>
        <p:nvSpPr>
          <p:cNvPr id="5" name="Text 3"/>
          <p:cNvSpPr/>
          <p:nvPr/>
        </p:nvSpPr>
        <p:spPr>
          <a:xfrm>
            <a:off x="716518" y="1581745"/>
            <a:ext cx="4112657" cy="45862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Comprehensive demographic profiles including age, chronic conditions, coverage details</a:t>
            </a:r>
            <a:endParaRPr lang="en-US" sz="1100" dirty="0"/>
          </a:p>
        </p:txBody>
      </p:sp>
      <p:sp>
        <p:nvSpPr>
          <p:cNvPr id="6" name="Shape 4"/>
          <p:cNvSpPr/>
          <p:nvPr/>
        </p:nvSpPr>
        <p:spPr>
          <a:xfrm>
            <a:off x="5115639" y="1128593"/>
            <a:ext cx="4399121" cy="1055013"/>
          </a:xfrm>
          <a:prstGeom prst="roundRect">
            <a:avLst>
              <a:gd name="adj" fmla="val 2038"/>
            </a:avLst>
          </a:prstGeom>
          <a:solidFill>
            <a:srgbClr val="433550"/>
          </a:solidFill>
          <a:ln/>
        </p:spPr>
      </p:sp>
      <p:sp>
        <p:nvSpPr>
          <p:cNvPr id="7" name="Text 5"/>
          <p:cNvSpPr/>
          <p:nvPr/>
        </p:nvSpPr>
        <p:spPr>
          <a:xfrm>
            <a:off x="5258872" y="1271826"/>
            <a:ext cx="1791772" cy="223957"/>
          </a:xfrm>
          <a:prstGeom prst="rect">
            <a:avLst/>
          </a:prstGeom>
          <a:noFill/>
          <a:ln/>
        </p:spPr>
        <p:txBody>
          <a:bodyPr wrap="none" lIns="0" tIns="0" rIns="0" bIns="0" rtlCol="0" anchor="t"/>
          <a:lstStyle/>
          <a:p>
            <a:pPr algn="l" indent="0" marL="0">
              <a:lnSpc>
                <a:spcPts val="1750"/>
              </a:lnSpc>
              <a:buNone/>
            </a:pPr>
            <a:r>
              <a:rPr lang="en-US" sz="1400" b="1" dirty="0">
                <a:solidFill>
                  <a:srgbClr val="DAD1E6"/>
                </a:solidFill>
                <a:latin typeface="Inconsolata Bold" pitchFamily="34" charset="0"/>
                <a:ea typeface="Inconsolata Bold" pitchFamily="34" charset="-122"/>
                <a:cs typeface="Inconsolata Bold" pitchFamily="34" charset="-120"/>
              </a:rPr>
              <a:t>558,211 Claims</a:t>
            </a:r>
            <a:endParaRPr lang="en-US" sz="1400" dirty="0"/>
          </a:p>
        </p:txBody>
      </p:sp>
      <p:sp>
        <p:nvSpPr>
          <p:cNvPr id="8" name="Text 6"/>
          <p:cNvSpPr/>
          <p:nvPr/>
        </p:nvSpPr>
        <p:spPr>
          <a:xfrm>
            <a:off x="5258872" y="1581745"/>
            <a:ext cx="4112657" cy="45862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Detailed billing records across inpatient, outpatient, and prescription services</a:t>
            </a:r>
            <a:endParaRPr lang="en-US" sz="1100" dirty="0"/>
          </a:p>
        </p:txBody>
      </p:sp>
      <p:sp>
        <p:nvSpPr>
          <p:cNvPr id="9" name="Shape 7"/>
          <p:cNvSpPr/>
          <p:nvPr/>
        </p:nvSpPr>
        <p:spPr>
          <a:xfrm>
            <a:off x="9657993" y="1128593"/>
            <a:ext cx="4399121" cy="1055013"/>
          </a:xfrm>
          <a:prstGeom prst="roundRect">
            <a:avLst>
              <a:gd name="adj" fmla="val 2038"/>
            </a:avLst>
          </a:prstGeom>
          <a:solidFill>
            <a:srgbClr val="433550"/>
          </a:solidFill>
          <a:ln/>
        </p:spPr>
      </p:sp>
      <p:sp>
        <p:nvSpPr>
          <p:cNvPr id="10" name="Text 8"/>
          <p:cNvSpPr/>
          <p:nvPr/>
        </p:nvSpPr>
        <p:spPr>
          <a:xfrm>
            <a:off x="9801225" y="1271826"/>
            <a:ext cx="1791772" cy="223957"/>
          </a:xfrm>
          <a:prstGeom prst="rect">
            <a:avLst/>
          </a:prstGeom>
          <a:noFill/>
          <a:ln/>
        </p:spPr>
        <p:txBody>
          <a:bodyPr wrap="none" lIns="0" tIns="0" rIns="0" bIns="0" rtlCol="0" anchor="t"/>
          <a:lstStyle/>
          <a:p>
            <a:pPr algn="l" indent="0" marL="0">
              <a:lnSpc>
                <a:spcPts val="1750"/>
              </a:lnSpc>
              <a:buNone/>
            </a:pPr>
            <a:r>
              <a:rPr lang="en-US" sz="1400" b="1" dirty="0">
                <a:solidFill>
                  <a:srgbClr val="DAD1E6"/>
                </a:solidFill>
                <a:latin typeface="Inconsolata Bold" pitchFamily="34" charset="0"/>
                <a:ea typeface="Inconsolata Bold" pitchFamily="34" charset="-122"/>
                <a:cs typeface="Inconsolata Bold" pitchFamily="34" charset="-120"/>
              </a:rPr>
              <a:t>5,410 Providers</a:t>
            </a:r>
            <a:endParaRPr lang="en-US" sz="1400" dirty="0"/>
          </a:p>
        </p:txBody>
      </p:sp>
      <p:sp>
        <p:nvSpPr>
          <p:cNvPr id="11" name="Text 9"/>
          <p:cNvSpPr/>
          <p:nvPr/>
        </p:nvSpPr>
        <p:spPr>
          <a:xfrm>
            <a:off x="9801225" y="1581745"/>
            <a:ext cx="4112657" cy="45862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Healthcare organizations with documented billing patterns and fraud labels</a:t>
            </a:r>
            <a:endParaRPr lang="en-US" sz="1100" dirty="0"/>
          </a:p>
        </p:txBody>
      </p:sp>
      <p:sp>
        <p:nvSpPr>
          <p:cNvPr id="12" name="Text 10"/>
          <p:cNvSpPr/>
          <p:nvPr/>
        </p:nvSpPr>
        <p:spPr>
          <a:xfrm>
            <a:off x="573286" y="2344817"/>
            <a:ext cx="13483828" cy="458629"/>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Our dataset represents a </a:t>
            </a:r>
            <a:pPr algn="l" indent="0" marL="0">
              <a:lnSpc>
                <a:spcPts val="1800"/>
              </a:lnSpc>
              <a:buNone/>
            </a:pPr>
            <a:r>
              <a:rPr lang="en-US" sz="1100" b="1" dirty="0">
                <a:solidFill>
                  <a:srgbClr val="DAD1E6"/>
                </a:solidFill>
                <a:latin typeface="Fira Sans" pitchFamily="34" charset="0"/>
                <a:ea typeface="Fira Sans" pitchFamily="34" charset="-122"/>
                <a:cs typeface="Fira Sans" pitchFamily="34" charset="-120"/>
              </a:rPr>
              <a:t>comprehensive view of Medicare claims activity</a:t>
            </a:r>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 structured across four interconnected tables that capture the full spectrum of healthcare transactions. The data flows from patient demographics through individual claims to provider-level aggregations, enabling us to identify patterns that would be invisible in isolated analysis.</a:t>
            </a:r>
            <a:endParaRPr lang="en-US" sz="1100" dirty="0"/>
          </a:p>
        </p:txBody>
      </p:sp>
      <p:sp>
        <p:nvSpPr>
          <p:cNvPr id="13" name="Text 11"/>
          <p:cNvSpPr/>
          <p:nvPr/>
        </p:nvSpPr>
        <p:spPr>
          <a:xfrm>
            <a:off x="573286" y="3093601"/>
            <a:ext cx="7950398" cy="687943"/>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The </a:t>
            </a:r>
            <a:pPr algn="l" indent="0" marL="0">
              <a:lnSpc>
                <a:spcPts val="1800"/>
              </a:lnSpc>
              <a:buNone/>
            </a:pPr>
            <a:r>
              <a:rPr lang="en-US" sz="1100" b="1" dirty="0">
                <a:solidFill>
                  <a:srgbClr val="DAD1E6"/>
                </a:solidFill>
                <a:latin typeface="Fira Sans" pitchFamily="34" charset="0"/>
                <a:ea typeface="Fira Sans" pitchFamily="34" charset="-122"/>
                <a:cs typeface="Fira Sans" pitchFamily="34" charset="-120"/>
              </a:rPr>
              <a:t>class imbalance presents a significant challenge</a:t>
            </a:r>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 only 506 providers (9.4%) are labeled as fraudulent compared to 4,904 legitimate providers. This 9:1 ratio is typical in fraud detection scenarios but requires specialized machine learning approaches to prevent models from simply predicting "legitimate" for all cases.</a:t>
            </a:r>
            <a:endParaRPr lang="en-US" sz="1100" dirty="0"/>
          </a:p>
        </p:txBody>
      </p:sp>
      <p:sp>
        <p:nvSpPr>
          <p:cNvPr id="14" name="Text 12"/>
          <p:cNvSpPr/>
          <p:nvPr/>
        </p:nvSpPr>
        <p:spPr>
          <a:xfrm>
            <a:off x="573286" y="3910489"/>
            <a:ext cx="7950398" cy="687943"/>
          </a:xfrm>
          <a:prstGeom prst="rect">
            <a:avLst/>
          </a:prstGeom>
          <a:noFill/>
          <a:ln/>
        </p:spPr>
        <p:txBody>
          <a:bodyPr wrap="square" lIns="0" tIns="0" rIns="0" bIns="0" rtlCol="0" anchor="t"/>
          <a:lstStyle/>
          <a:p>
            <a:pPr algn="l" indent="0" marL="0">
              <a:lnSpc>
                <a:spcPts val="1800"/>
              </a:lnSpc>
              <a:buNone/>
            </a:pPr>
            <a:r>
              <a:rPr lang="en-US" sz="1100" dirty="0">
                <a:solidFill>
                  <a:srgbClr val="DAD1E6"/>
                </a:solidFill>
                <a:latin typeface="Fira Sans" pitchFamily="34" charset="0"/>
                <a:ea typeface="Fira Sans" pitchFamily="34" charset="-122"/>
                <a:cs typeface="Fira Sans" pitchFamily="34" charset="-120"/>
              </a:rPr>
              <a:t>Our multi-table structure captures the full patient journey: demographic information reveals population characteristics, claims data shows billing patterns and medical services, and provider labels enable supervised learning. This rich data environment allows us to engineer features that capture the behavioral signatures of fraudulent activity.</a:t>
            </a:r>
            <a:endParaRPr lang="en-US" sz="1100" dirty="0"/>
          </a:p>
        </p:txBody>
      </p:sp>
      <p:pic>
        <p:nvPicPr>
          <p:cNvPr id="15" name="Image 0" descr="preencoded.png">    </p:cNvPr>
          <p:cNvPicPr>
            <a:picLocks noChangeAspect="1"/>
          </p:cNvPicPr>
          <p:nvPr/>
        </p:nvPicPr>
        <p:blipFill>
          <a:blip r:embed="rId1"/>
          <a:stretch>
            <a:fillRect/>
          </a:stretch>
        </p:blipFill>
        <p:spPr>
          <a:xfrm>
            <a:off x="8880872" y="3125867"/>
            <a:ext cx="5183743" cy="51837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96835" y="272891"/>
            <a:ext cx="3720108" cy="310158"/>
          </a:xfrm>
          <a:prstGeom prst="rect">
            <a:avLst/>
          </a:prstGeom>
          <a:noFill/>
          <a:ln/>
        </p:spPr>
        <p:txBody>
          <a:bodyPr wrap="none" lIns="0" tIns="0" rIns="0" bIns="0" rtlCol="0" anchor="t"/>
          <a:lstStyle/>
          <a:p>
            <a:pPr algn="l" indent="0" marL="0">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Uncovering the Fraud Signature</a:t>
            </a:r>
            <a:endParaRPr lang="en-US" sz="1950" dirty="0"/>
          </a:p>
        </p:txBody>
      </p:sp>
      <p:sp>
        <p:nvSpPr>
          <p:cNvPr id="3" name="Text 1"/>
          <p:cNvSpPr/>
          <p:nvPr/>
        </p:nvSpPr>
        <p:spPr>
          <a:xfrm>
            <a:off x="396835" y="781407"/>
            <a:ext cx="13836729"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Our exploratory analysis revealed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striking behavioral differences between fraudulent and legitimate providers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that form the foundation of our detection approach. These patterns are not subtle—they represent dramatic departures from normal medical practice that, when quantified, create a clear fraud signature.</a:t>
            </a:r>
            <a:endParaRPr lang="en-US" sz="750" dirty="0"/>
          </a:p>
        </p:txBody>
      </p:sp>
      <p:pic>
        <p:nvPicPr>
          <p:cNvPr id="4" name="Image 0" descr="preencoded.png">    </p:cNvPr>
          <p:cNvPicPr>
            <a:picLocks noChangeAspect="1"/>
          </p:cNvPicPr>
          <p:nvPr/>
        </p:nvPicPr>
        <p:blipFill>
          <a:blip r:embed="rId1"/>
          <a:stretch>
            <a:fillRect/>
          </a:stretch>
        </p:blipFill>
        <p:spPr>
          <a:xfrm>
            <a:off x="396835" y="1210151"/>
            <a:ext cx="13836729" cy="7450693"/>
          </a:xfrm>
          <a:prstGeom prst="rect">
            <a:avLst/>
          </a:prstGeom>
        </p:spPr>
      </p:pic>
      <p:sp>
        <p:nvSpPr>
          <p:cNvPr id="5" name="Shape 2"/>
          <p:cNvSpPr/>
          <p:nvPr/>
        </p:nvSpPr>
        <p:spPr>
          <a:xfrm>
            <a:off x="4085749" y="8660844"/>
            <a:ext cx="99179" cy="99179"/>
          </a:xfrm>
          <a:prstGeom prst="roundRect">
            <a:avLst>
              <a:gd name="adj" fmla="val 18439"/>
            </a:avLst>
          </a:prstGeom>
          <a:solidFill>
            <a:srgbClr val="CF077A"/>
          </a:solidFill>
          <a:ln/>
        </p:spPr>
      </p:sp>
      <p:sp>
        <p:nvSpPr>
          <p:cNvPr id="6" name="Text 3"/>
          <p:cNvSpPr/>
          <p:nvPr/>
        </p:nvSpPr>
        <p:spPr>
          <a:xfrm>
            <a:off x="4245888" y="8660844"/>
            <a:ext cx="661511" cy="99179"/>
          </a:xfrm>
          <a:prstGeom prst="rect">
            <a:avLst/>
          </a:prstGeom>
          <a:noFill/>
          <a:ln/>
        </p:spPr>
        <p:txBody>
          <a:bodyPr wrap="none" lIns="0" tIns="0" rIns="0" bIns="0" rtlCol="0" anchor="t"/>
          <a:lstStyle/>
          <a:p>
            <a:pPr algn="l" indent="0" marL="0">
              <a:lnSpc>
                <a:spcPts val="750"/>
              </a:lnSpc>
              <a:buNone/>
            </a:pPr>
            <a:r>
              <a:rPr lang="en-US" sz="750" dirty="0">
                <a:solidFill>
                  <a:srgbClr val="DAD1E6"/>
                </a:solidFill>
                <a:latin typeface="Fira Sans" pitchFamily="34" charset="0"/>
                <a:ea typeface="Fira Sans" pitchFamily="34" charset="-122"/>
                <a:cs typeface="Fira Sans" pitchFamily="34" charset="-120"/>
              </a:rPr>
              <a:t>Average Billing</a:t>
            </a:r>
            <a:endParaRPr lang="en-US" sz="750" dirty="0"/>
          </a:p>
        </p:txBody>
      </p:sp>
      <p:sp>
        <p:nvSpPr>
          <p:cNvPr id="7" name="Shape 4"/>
          <p:cNvSpPr/>
          <p:nvPr/>
        </p:nvSpPr>
        <p:spPr>
          <a:xfrm>
            <a:off x="6798588" y="8660844"/>
            <a:ext cx="99179" cy="99179"/>
          </a:xfrm>
          <a:prstGeom prst="roundRect">
            <a:avLst>
              <a:gd name="adj" fmla="val 18439"/>
            </a:avLst>
          </a:prstGeom>
          <a:solidFill>
            <a:srgbClr val="F838A6"/>
          </a:solidFill>
          <a:ln/>
        </p:spPr>
      </p:sp>
      <p:sp>
        <p:nvSpPr>
          <p:cNvPr id="8" name="Text 5"/>
          <p:cNvSpPr/>
          <p:nvPr/>
        </p:nvSpPr>
        <p:spPr>
          <a:xfrm>
            <a:off x="6958727" y="8660844"/>
            <a:ext cx="872847" cy="99179"/>
          </a:xfrm>
          <a:prstGeom prst="rect">
            <a:avLst/>
          </a:prstGeom>
          <a:noFill/>
          <a:ln/>
        </p:spPr>
        <p:txBody>
          <a:bodyPr wrap="none" lIns="0" tIns="0" rIns="0" bIns="0" rtlCol="0" anchor="t"/>
          <a:lstStyle/>
          <a:p>
            <a:pPr algn="l" indent="0" marL="0">
              <a:lnSpc>
                <a:spcPts val="750"/>
              </a:lnSpc>
              <a:buNone/>
            </a:pPr>
            <a:r>
              <a:rPr lang="en-US" sz="750" dirty="0">
                <a:solidFill>
                  <a:srgbClr val="DAD1E6"/>
                </a:solidFill>
                <a:latin typeface="Fira Sans" pitchFamily="34" charset="0"/>
                <a:ea typeface="Fira Sans" pitchFamily="34" charset="-122"/>
                <a:cs typeface="Fira Sans" pitchFamily="34" charset="-120"/>
              </a:rPr>
              <a:t>Claims Per Provider</a:t>
            </a:r>
            <a:endParaRPr lang="en-US" sz="750" dirty="0"/>
          </a:p>
        </p:txBody>
      </p:sp>
      <p:sp>
        <p:nvSpPr>
          <p:cNvPr id="9" name="Shape 6"/>
          <p:cNvSpPr/>
          <p:nvPr/>
        </p:nvSpPr>
        <p:spPr>
          <a:xfrm>
            <a:off x="9722882" y="8660844"/>
            <a:ext cx="99179" cy="99179"/>
          </a:xfrm>
          <a:prstGeom prst="roundRect">
            <a:avLst>
              <a:gd name="adj" fmla="val 18439"/>
            </a:avLst>
          </a:prstGeom>
          <a:solidFill>
            <a:srgbClr val="FB8FCD"/>
          </a:solidFill>
          <a:ln/>
        </p:spPr>
      </p:sp>
      <p:sp>
        <p:nvSpPr>
          <p:cNvPr id="10" name="Text 7"/>
          <p:cNvSpPr/>
          <p:nvPr/>
        </p:nvSpPr>
        <p:spPr>
          <a:xfrm>
            <a:off x="9883021" y="8660844"/>
            <a:ext cx="698659" cy="99179"/>
          </a:xfrm>
          <a:prstGeom prst="rect">
            <a:avLst/>
          </a:prstGeom>
          <a:noFill/>
          <a:ln/>
        </p:spPr>
        <p:txBody>
          <a:bodyPr wrap="none" lIns="0" tIns="0" rIns="0" bIns="0" rtlCol="0" anchor="t"/>
          <a:lstStyle/>
          <a:p>
            <a:pPr algn="l" indent="0" marL="0">
              <a:lnSpc>
                <a:spcPts val="750"/>
              </a:lnSpc>
              <a:buNone/>
            </a:pPr>
            <a:r>
              <a:rPr lang="en-US" sz="750" dirty="0">
                <a:solidFill>
                  <a:srgbClr val="DAD1E6"/>
                </a:solidFill>
                <a:latin typeface="Fira Sans" pitchFamily="34" charset="0"/>
                <a:ea typeface="Fira Sans" pitchFamily="34" charset="-122"/>
                <a:cs typeface="Fira Sans" pitchFamily="34" charset="-120"/>
              </a:rPr>
              <a:t>Patients Served</a:t>
            </a:r>
            <a:endParaRPr lang="en-US" sz="750" dirty="0"/>
          </a:p>
        </p:txBody>
      </p:sp>
      <p:sp>
        <p:nvSpPr>
          <p:cNvPr id="11" name="Text 8"/>
          <p:cNvSpPr/>
          <p:nvPr/>
        </p:nvSpPr>
        <p:spPr>
          <a:xfrm>
            <a:off x="396835" y="9119711"/>
            <a:ext cx="4529614" cy="327422"/>
          </a:xfrm>
          <a:prstGeom prst="rect">
            <a:avLst/>
          </a:prstGeom>
          <a:noFill/>
          <a:ln/>
        </p:spPr>
        <p:txBody>
          <a:bodyPr wrap="none" lIns="0" tIns="0" rIns="0" bIns="0" rtlCol="0" anchor="t"/>
          <a:lstStyle/>
          <a:p>
            <a:pPr algn="ctr" indent="0" marL="0">
              <a:lnSpc>
                <a:spcPts val="2550"/>
              </a:lnSpc>
              <a:buNone/>
            </a:pPr>
            <a:r>
              <a:rPr lang="en-US" sz="2550" b="1" dirty="0">
                <a:solidFill>
                  <a:srgbClr val="DAD1E6"/>
                </a:solidFill>
                <a:latin typeface="Inconsolata Bold" pitchFamily="34" charset="0"/>
                <a:ea typeface="Inconsolata Bold" pitchFamily="34" charset="-122"/>
                <a:cs typeface="Inconsolata Bold" pitchFamily="34" charset="-120"/>
              </a:rPr>
              <a:t>10.99x</a:t>
            </a:r>
            <a:endParaRPr lang="en-US" sz="2550" dirty="0"/>
          </a:p>
        </p:txBody>
      </p:sp>
      <p:sp>
        <p:nvSpPr>
          <p:cNvPr id="12" name="Text 9"/>
          <p:cNvSpPr/>
          <p:nvPr/>
        </p:nvSpPr>
        <p:spPr>
          <a:xfrm>
            <a:off x="2010847" y="9571077"/>
            <a:ext cx="1301472"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Higher Billing Volume</a:t>
            </a:r>
            <a:endParaRPr lang="en-US" sz="950" dirty="0"/>
          </a:p>
        </p:txBody>
      </p:sp>
      <p:sp>
        <p:nvSpPr>
          <p:cNvPr id="13" name="Text 10"/>
          <p:cNvSpPr/>
          <p:nvPr/>
        </p:nvSpPr>
        <p:spPr>
          <a:xfrm>
            <a:off x="396835" y="9785628"/>
            <a:ext cx="4529614" cy="317183"/>
          </a:xfrm>
          <a:prstGeom prst="rect">
            <a:avLst/>
          </a:prstGeom>
          <a:noFill/>
          <a:ln/>
        </p:spPr>
        <p:txBody>
          <a:bodyPr wrap="squar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Fraudulent providers average $584K compared to $53K for legitimate providers—a difference that suggests systematic overbilling</a:t>
            </a:r>
            <a:endParaRPr lang="en-US" sz="750" dirty="0"/>
          </a:p>
        </p:txBody>
      </p:sp>
      <p:sp>
        <p:nvSpPr>
          <p:cNvPr id="14" name="Text 11"/>
          <p:cNvSpPr/>
          <p:nvPr/>
        </p:nvSpPr>
        <p:spPr>
          <a:xfrm>
            <a:off x="5050393" y="9119711"/>
            <a:ext cx="4529614" cy="327422"/>
          </a:xfrm>
          <a:prstGeom prst="rect">
            <a:avLst/>
          </a:prstGeom>
          <a:noFill/>
          <a:ln/>
        </p:spPr>
        <p:txBody>
          <a:bodyPr wrap="none" lIns="0" tIns="0" rIns="0" bIns="0" rtlCol="0" anchor="t"/>
          <a:lstStyle/>
          <a:p>
            <a:pPr algn="ctr" indent="0" marL="0">
              <a:lnSpc>
                <a:spcPts val="2550"/>
              </a:lnSpc>
              <a:buNone/>
            </a:pPr>
            <a:r>
              <a:rPr lang="en-US" sz="2550" b="1" dirty="0">
                <a:solidFill>
                  <a:srgbClr val="DAD1E6"/>
                </a:solidFill>
                <a:latin typeface="Inconsolata Bold" pitchFamily="34" charset="0"/>
                <a:ea typeface="Inconsolata Bold" pitchFamily="34" charset="-122"/>
                <a:cs typeface="Inconsolata Bold" pitchFamily="34" charset="-120"/>
              </a:rPr>
              <a:t>5.97x</a:t>
            </a:r>
            <a:endParaRPr lang="en-US" sz="2550" dirty="0"/>
          </a:p>
        </p:txBody>
      </p:sp>
      <p:sp>
        <p:nvSpPr>
          <p:cNvPr id="15" name="Text 12"/>
          <p:cNvSpPr/>
          <p:nvPr/>
        </p:nvSpPr>
        <p:spPr>
          <a:xfrm>
            <a:off x="6695003" y="9571077"/>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More Claims Filed</a:t>
            </a:r>
            <a:endParaRPr lang="en-US" sz="950" dirty="0"/>
          </a:p>
        </p:txBody>
      </p:sp>
      <p:sp>
        <p:nvSpPr>
          <p:cNvPr id="16" name="Text 13"/>
          <p:cNvSpPr/>
          <p:nvPr/>
        </p:nvSpPr>
        <p:spPr>
          <a:xfrm>
            <a:off x="5050393" y="9785628"/>
            <a:ext cx="4529614" cy="158591"/>
          </a:xfrm>
          <a:prstGeom prst="rect">
            <a:avLst/>
          </a:prstGeom>
          <a:noFill/>
          <a:ln/>
        </p:spPr>
        <p:txBody>
          <a:bodyPr wrap="non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420 claims versus 70 average indicates unusually high service frequency that warrants investigation</a:t>
            </a:r>
            <a:endParaRPr lang="en-US" sz="750" dirty="0"/>
          </a:p>
        </p:txBody>
      </p:sp>
      <p:sp>
        <p:nvSpPr>
          <p:cNvPr id="17" name="Text 14"/>
          <p:cNvSpPr/>
          <p:nvPr/>
        </p:nvSpPr>
        <p:spPr>
          <a:xfrm>
            <a:off x="9703951" y="9119711"/>
            <a:ext cx="4529614" cy="327422"/>
          </a:xfrm>
          <a:prstGeom prst="rect">
            <a:avLst/>
          </a:prstGeom>
          <a:noFill/>
          <a:ln/>
        </p:spPr>
        <p:txBody>
          <a:bodyPr wrap="none" lIns="0" tIns="0" rIns="0" bIns="0" rtlCol="0" anchor="t"/>
          <a:lstStyle/>
          <a:p>
            <a:pPr algn="ctr" indent="0" marL="0">
              <a:lnSpc>
                <a:spcPts val="2550"/>
              </a:lnSpc>
              <a:buNone/>
            </a:pPr>
            <a:r>
              <a:rPr lang="en-US" sz="2550" b="1" dirty="0">
                <a:solidFill>
                  <a:srgbClr val="DAD1E6"/>
                </a:solidFill>
                <a:latin typeface="Inconsolata Bold" pitchFamily="34" charset="0"/>
                <a:ea typeface="Inconsolata Bold" pitchFamily="34" charset="-122"/>
                <a:cs typeface="Inconsolata Bold" pitchFamily="34" charset="-120"/>
              </a:rPr>
              <a:t>4.93x</a:t>
            </a:r>
            <a:endParaRPr lang="en-US" sz="2550" dirty="0"/>
          </a:p>
        </p:txBody>
      </p:sp>
      <p:sp>
        <p:nvSpPr>
          <p:cNvPr id="18" name="Text 15"/>
          <p:cNvSpPr/>
          <p:nvPr/>
        </p:nvSpPr>
        <p:spPr>
          <a:xfrm>
            <a:off x="11317962" y="9571077"/>
            <a:ext cx="1301472"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Greater Patient Count</a:t>
            </a:r>
            <a:endParaRPr lang="en-US" sz="950" dirty="0"/>
          </a:p>
        </p:txBody>
      </p:sp>
      <p:sp>
        <p:nvSpPr>
          <p:cNvPr id="19" name="Text 16"/>
          <p:cNvSpPr/>
          <p:nvPr/>
        </p:nvSpPr>
        <p:spPr>
          <a:xfrm>
            <a:off x="9703951" y="9785628"/>
            <a:ext cx="4529614" cy="317183"/>
          </a:xfrm>
          <a:prstGeom prst="rect">
            <a:avLst/>
          </a:prstGeom>
          <a:noFill/>
          <a:ln/>
        </p:spPr>
        <p:txBody>
          <a:bodyPr wrap="squar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Serving 242 patients versus 49 suggests either genuine high-volume practice or potential beneficiary recruitment schemes</a:t>
            </a:r>
            <a:endParaRPr lang="en-US" sz="750" dirty="0"/>
          </a:p>
        </p:txBody>
      </p:sp>
      <p:sp>
        <p:nvSpPr>
          <p:cNvPr id="20" name="Text 17"/>
          <p:cNvSpPr/>
          <p:nvPr/>
        </p:nvSpPr>
        <p:spPr>
          <a:xfrm>
            <a:off x="396835" y="10214372"/>
            <a:ext cx="13836729"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These metrics don't just represent statistical anomalies—they reflect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real-world fraud schemes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including unnecessary procedures, upcoding diagnoses, and billing for services never rendered. The magnitude of these differences gives us confidence that machine learning can effectively distinguish fraudulent from legitimate behavior patterns.</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3861" y="284559"/>
            <a:ext cx="4784169" cy="323374"/>
          </a:xfrm>
          <a:prstGeom prst="rect">
            <a:avLst/>
          </a:prstGeom>
          <a:noFill/>
          <a:ln/>
        </p:spPr>
        <p:txBody>
          <a:bodyPr wrap="none" lIns="0" tIns="0" rIns="0" bIns="0" rtlCol="0" anchor="t"/>
          <a:lstStyle/>
          <a:p>
            <a:pPr algn="l" indent="0" marL="0">
              <a:lnSpc>
                <a:spcPts val="2500"/>
              </a:lnSpc>
              <a:buNone/>
            </a:pPr>
            <a:r>
              <a:rPr lang="en-US" sz="2000" b="1" dirty="0">
                <a:solidFill>
                  <a:srgbClr val="F94CAF"/>
                </a:solidFill>
                <a:latin typeface="Inconsolata Bold" pitchFamily="34" charset="0"/>
                <a:ea typeface="Inconsolata Bold" pitchFamily="34" charset="-122"/>
                <a:cs typeface="Inconsolata Bold" pitchFamily="34" charset="-120"/>
              </a:rPr>
              <a:t>Engineering a Robust Detection System</a:t>
            </a:r>
            <a:endParaRPr lang="en-US" sz="2000" dirty="0"/>
          </a:p>
        </p:txBody>
      </p:sp>
      <p:pic>
        <p:nvPicPr>
          <p:cNvPr id="3" name="Image 0" descr="preencoded.png">    </p:cNvPr>
          <p:cNvPicPr>
            <a:picLocks noChangeAspect="1"/>
          </p:cNvPicPr>
          <p:nvPr/>
        </p:nvPicPr>
        <p:blipFill>
          <a:blip r:embed="rId1"/>
          <a:stretch>
            <a:fillRect/>
          </a:stretch>
        </p:blipFill>
        <p:spPr>
          <a:xfrm>
            <a:off x="413861" y="879396"/>
            <a:ext cx="6072307" cy="6072307"/>
          </a:xfrm>
          <a:prstGeom prst="rect">
            <a:avLst/>
          </a:prstGeom>
        </p:spPr>
      </p:pic>
      <p:sp>
        <p:nvSpPr>
          <p:cNvPr id="4" name="Text 1"/>
          <p:cNvSpPr/>
          <p:nvPr/>
        </p:nvSpPr>
        <p:spPr>
          <a:xfrm>
            <a:off x="6746200" y="866537"/>
            <a:ext cx="2249567" cy="194072"/>
          </a:xfrm>
          <a:prstGeom prst="rect">
            <a:avLst/>
          </a:prstGeom>
          <a:noFill/>
          <a:ln/>
        </p:spPr>
        <p:txBody>
          <a:bodyPr wrap="none" lIns="0" tIns="0" rIns="0" bIns="0" rtlCol="0" anchor="t"/>
          <a:lstStyle/>
          <a:p>
            <a:pPr algn="l" indent="0" marL="0">
              <a:lnSpc>
                <a:spcPts val="1500"/>
              </a:lnSpc>
              <a:buNone/>
            </a:pPr>
            <a:r>
              <a:rPr lang="en-US" sz="1200" b="1" dirty="0">
                <a:solidFill>
                  <a:srgbClr val="F94CAF"/>
                </a:solidFill>
                <a:latin typeface="Inconsolata Bold" pitchFamily="34" charset="0"/>
                <a:ea typeface="Inconsolata Bold" pitchFamily="34" charset="-122"/>
                <a:cs typeface="Inconsolata Bold" pitchFamily="34" charset="-120"/>
              </a:rPr>
              <a:t>The Class Imbalance Challenge</a:t>
            </a:r>
            <a:endParaRPr lang="en-US" sz="1200" dirty="0"/>
          </a:p>
        </p:txBody>
      </p:sp>
      <p:sp>
        <p:nvSpPr>
          <p:cNvPr id="5" name="Text 2"/>
          <p:cNvSpPr/>
          <p:nvPr/>
        </p:nvSpPr>
        <p:spPr>
          <a:xfrm>
            <a:off x="6746200" y="1164074"/>
            <a:ext cx="7477839" cy="330994"/>
          </a:xfrm>
          <a:prstGeom prst="rect">
            <a:avLst/>
          </a:prstGeom>
          <a:noFill/>
          <a:ln/>
        </p:spPr>
        <p:txBody>
          <a:bodyPr wrap="square" lIns="0" tIns="0" rIns="0" bIns="0" rtlCol="0" anchor="t"/>
          <a:lstStyle/>
          <a:p>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With a </a:t>
            </a:r>
            <a:pPr algn="l" indent="0" marL="0">
              <a:lnSpc>
                <a:spcPts val="1300"/>
              </a:lnSpc>
              <a:buNone/>
            </a:pPr>
            <a:r>
              <a:rPr lang="en-US" sz="800" b="1" dirty="0">
                <a:solidFill>
                  <a:srgbClr val="DAD1E6"/>
                </a:solidFill>
                <a:latin typeface="Fira Sans" pitchFamily="34" charset="0"/>
                <a:ea typeface="Fira Sans" pitchFamily="34" charset="-122"/>
                <a:cs typeface="Fira Sans" pitchFamily="34" charset="-120"/>
              </a:rPr>
              <a:t>9:1 ratio of legitimate to fraudulent providers</a:t>
            </a:r>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 naive machine learning approaches would achieve 91% accuracy by simply predicting "legitimate" for every case—while catching zero fraud. This imbalance required specialized techniques to ensure our models learn to recognize the minority fraud class.</a:t>
            </a:r>
            <a:endParaRPr lang="en-US" sz="800" dirty="0"/>
          </a:p>
        </p:txBody>
      </p:sp>
      <p:sp>
        <p:nvSpPr>
          <p:cNvPr id="6" name="Text 3"/>
          <p:cNvSpPr/>
          <p:nvPr/>
        </p:nvSpPr>
        <p:spPr>
          <a:xfrm>
            <a:off x="413861" y="7184350"/>
            <a:ext cx="103465" cy="129302"/>
          </a:xfrm>
          <a:prstGeom prst="rect">
            <a:avLst/>
          </a:prstGeom>
          <a:noFill/>
          <a:ln/>
        </p:spPr>
        <p:txBody>
          <a:bodyPr wrap="none" lIns="0" tIns="0" rIns="0" bIns="0" rtlCol="0" anchor="t"/>
          <a:lstStyle/>
          <a:p>
            <a:pPr algn="l" indent="0" marL="0">
              <a:lnSpc>
                <a:spcPts val="1300"/>
              </a:lnSpc>
              <a:buNone/>
            </a:pPr>
            <a:r>
              <a:rPr lang="en-US" sz="800" dirty="0">
                <a:solidFill>
                  <a:srgbClr val="DAD1E6"/>
                </a:solidFill>
                <a:latin typeface="Inconsolata Light" pitchFamily="34" charset="0"/>
                <a:ea typeface="Inconsolata Light" pitchFamily="34" charset="-122"/>
                <a:cs typeface="Inconsolata Light" pitchFamily="34" charset="-120"/>
              </a:rPr>
              <a:t>01</a:t>
            </a:r>
            <a:endParaRPr lang="en-US" sz="800" dirty="0"/>
          </a:p>
        </p:txBody>
      </p:sp>
      <p:pic>
        <p:nvPicPr>
          <p:cNvPr id="7" name="Image 1" descr="preencoded.png">    </p:cNvPr>
          <p:cNvPicPr>
            <a:picLocks noChangeAspect="1"/>
          </p:cNvPicPr>
          <p:nvPr/>
        </p:nvPicPr>
        <p:blipFill>
          <a:blip r:embed="rId2"/>
          <a:stretch>
            <a:fillRect/>
          </a:stretch>
        </p:blipFill>
        <p:spPr>
          <a:xfrm>
            <a:off x="413861" y="7344847"/>
            <a:ext cx="4531876" cy="15240"/>
          </a:xfrm>
          <a:prstGeom prst="rect">
            <a:avLst/>
          </a:prstGeom>
        </p:spPr>
      </p:pic>
      <p:sp>
        <p:nvSpPr>
          <p:cNvPr id="8" name="Text 4"/>
          <p:cNvSpPr/>
          <p:nvPr/>
        </p:nvSpPr>
        <p:spPr>
          <a:xfrm>
            <a:off x="413861" y="7427000"/>
            <a:ext cx="2198132" cy="161687"/>
          </a:xfrm>
          <a:prstGeom prst="rect">
            <a:avLst/>
          </a:prstGeom>
          <a:noFill/>
          <a:ln/>
        </p:spPr>
        <p:txBody>
          <a:bodyPr wrap="none" lIns="0" tIns="0" rIns="0" bIns="0" rtlCol="0" anchor="t"/>
          <a:lstStyle/>
          <a:p>
            <a:pPr algn="l" indent="0" marL="0">
              <a:lnSpc>
                <a:spcPts val="1250"/>
              </a:lnSpc>
              <a:buNone/>
            </a:pPr>
            <a:r>
              <a:rPr lang="en-US" sz="1000" b="1" dirty="0">
                <a:solidFill>
                  <a:srgbClr val="DAD1E6"/>
                </a:solidFill>
                <a:latin typeface="Inconsolata Bold" pitchFamily="34" charset="0"/>
                <a:ea typeface="Inconsolata Bold" pitchFamily="34" charset="-122"/>
                <a:cs typeface="Inconsolata Bold" pitchFamily="34" charset="-120"/>
              </a:rPr>
              <a:t>Provider-Level Feature Engineering</a:t>
            </a:r>
            <a:endParaRPr lang="en-US" sz="1000" dirty="0"/>
          </a:p>
        </p:txBody>
      </p:sp>
      <p:sp>
        <p:nvSpPr>
          <p:cNvPr id="9" name="Text 5"/>
          <p:cNvSpPr/>
          <p:nvPr/>
        </p:nvSpPr>
        <p:spPr>
          <a:xfrm>
            <a:off x="413861" y="7650718"/>
            <a:ext cx="4531876" cy="496491"/>
          </a:xfrm>
          <a:prstGeom prst="rect">
            <a:avLst/>
          </a:prstGeom>
          <a:noFill/>
          <a:ln/>
        </p:spPr>
        <p:txBody>
          <a:bodyPr wrap="square" lIns="0" tIns="0" rIns="0" bIns="0" rtlCol="0" anchor="t"/>
          <a:lstStyle/>
          <a:p>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We aggregated claim-level data into 24 provider-specific features capturing billing patterns, patient demographics, service utilization, and temporal behaviors. These engineered features transform raw transactions into behavioral signatures.</a:t>
            </a:r>
            <a:endParaRPr lang="en-US" sz="800" dirty="0"/>
          </a:p>
        </p:txBody>
      </p:sp>
      <p:sp>
        <p:nvSpPr>
          <p:cNvPr id="10" name="Text 6"/>
          <p:cNvSpPr/>
          <p:nvPr/>
        </p:nvSpPr>
        <p:spPr>
          <a:xfrm>
            <a:off x="5049203" y="7184350"/>
            <a:ext cx="103465" cy="129302"/>
          </a:xfrm>
          <a:prstGeom prst="rect">
            <a:avLst/>
          </a:prstGeom>
          <a:noFill/>
          <a:ln/>
        </p:spPr>
        <p:txBody>
          <a:bodyPr wrap="none" lIns="0" tIns="0" rIns="0" bIns="0" rtlCol="0" anchor="t"/>
          <a:lstStyle/>
          <a:p>
            <a:pPr algn="l" indent="0" marL="0">
              <a:lnSpc>
                <a:spcPts val="1300"/>
              </a:lnSpc>
              <a:buNone/>
            </a:pPr>
            <a:r>
              <a:rPr lang="en-US" sz="800" dirty="0">
                <a:solidFill>
                  <a:srgbClr val="DAD1E6"/>
                </a:solidFill>
                <a:latin typeface="Inconsolata Light" pitchFamily="34" charset="0"/>
                <a:ea typeface="Inconsolata Light" pitchFamily="34" charset="-122"/>
                <a:cs typeface="Inconsolata Light" pitchFamily="34" charset="-120"/>
              </a:rPr>
              <a:t>02</a:t>
            </a:r>
            <a:endParaRPr lang="en-US" sz="800" dirty="0"/>
          </a:p>
        </p:txBody>
      </p:sp>
      <p:pic>
        <p:nvPicPr>
          <p:cNvPr id="11" name="Image 2" descr="preencoded.png">    </p:cNvPr>
          <p:cNvPicPr>
            <a:picLocks noChangeAspect="1"/>
          </p:cNvPicPr>
          <p:nvPr/>
        </p:nvPicPr>
        <p:blipFill>
          <a:blip r:embed="rId3"/>
          <a:stretch>
            <a:fillRect/>
          </a:stretch>
        </p:blipFill>
        <p:spPr>
          <a:xfrm>
            <a:off x="5049203" y="7344847"/>
            <a:ext cx="4531876" cy="15240"/>
          </a:xfrm>
          <a:prstGeom prst="rect">
            <a:avLst/>
          </a:prstGeom>
        </p:spPr>
      </p:pic>
      <p:sp>
        <p:nvSpPr>
          <p:cNvPr id="12" name="Text 7"/>
          <p:cNvSpPr/>
          <p:nvPr/>
        </p:nvSpPr>
        <p:spPr>
          <a:xfrm>
            <a:off x="5049203" y="7427000"/>
            <a:ext cx="1486972" cy="161687"/>
          </a:xfrm>
          <a:prstGeom prst="rect">
            <a:avLst/>
          </a:prstGeom>
          <a:noFill/>
          <a:ln/>
        </p:spPr>
        <p:txBody>
          <a:bodyPr wrap="none" lIns="0" tIns="0" rIns="0" bIns="0" rtlCol="0" anchor="t"/>
          <a:lstStyle/>
          <a:p>
            <a:pPr algn="l" indent="0" marL="0">
              <a:lnSpc>
                <a:spcPts val="1250"/>
              </a:lnSpc>
              <a:buNone/>
            </a:pPr>
            <a:r>
              <a:rPr lang="en-US" sz="1000" b="1" dirty="0">
                <a:solidFill>
                  <a:srgbClr val="DAD1E6"/>
                </a:solidFill>
                <a:latin typeface="Inconsolata Bold" pitchFamily="34" charset="0"/>
                <a:ea typeface="Inconsolata Bold" pitchFamily="34" charset="-122"/>
                <a:cs typeface="Inconsolata Bold" pitchFamily="34" charset="-120"/>
              </a:rPr>
              <a:t>Class-Weighted Learning</a:t>
            </a:r>
            <a:endParaRPr lang="en-US" sz="1000" dirty="0"/>
          </a:p>
        </p:txBody>
      </p:sp>
      <p:sp>
        <p:nvSpPr>
          <p:cNvPr id="13" name="Text 8"/>
          <p:cNvSpPr/>
          <p:nvPr/>
        </p:nvSpPr>
        <p:spPr>
          <a:xfrm>
            <a:off x="5049203" y="7650718"/>
            <a:ext cx="4531876" cy="330994"/>
          </a:xfrm>
          <a:prstGeom prst="rect">
            <a:avLst/>
          </a:prstGeom>
          <a:noFill/>
          <a:ln/>
        </p:spPr>
        <p:txBody>
          <a:bodyPr wrap="square" lIns="0" tIns="0" rIns="0" bIns="0" rtlCol="0" anchor="t"/>
          <a:lstStyle/>
          <a:p>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Our algorithms apply higher penalties for misclassifying fraudulent providers, forcing models to pay attention to the minority class rather than optimizing for overall accuracy.</a:t>
            </a:r>
            <a:endParaRPr lang="en-US" sz="800" dirty="0"/>
          </a:p>
        </p:txBody>
      </p:sp>
      <p:sp>
        <p:nvSpPr>
          <p:cNvPr id="14" name="Text 9"/>
          <p:cNvSpPr/>
          <p:nvPr/>
        </p:nvSpPr>
        <p:spPr>
          <a:xfrm>
            <a:off x="9684544" y="7184350"/>
            <a:ext cx="103465" cy="129302"/>
          </a:xfrm>
          <a:prstGeom prst="rect">
            <a:avLst/>
          </a:prstGeom>
          <a:noFill/>
          <a:ln/>
        </p:spPr>
        <p:txBody>
          <a:bodyPr wrap="none" lIns="0" tIns="0" rIns="0" bIns="0" rtlCol="0" anchor="t"/>
          <a:lstStyle/>
          <a:p>
            <a:pPr algn="l" indent="0" marL="0">
              <a:lnSpc>
                <a:spcPts val="1300"/>
              </a:lnSpc>
              <a:buNone/>
            </a:pPr>
            <a:r>
              <a:rPr lang="en-US" sz="800" dirty="0">
                <a:solidFill>
                  <a:srgbClr val="DAD1E6"/>
                </a:solidFill>
                <a:latin typeface="Inconsolata Light" pitchFamily="34" charset="0"/>
                <a:ea typeface="Inconsolata Light" pitchFamily="34" charset="-122"/>
                <a:cs typeface="Inconsolata Light" pitchFamily="34" charset="-120"/>
              </a:rPr>
              <a:t>03</a:t>
            </a:r>
            <a:endParaRPr lang="en-US" sz="800" dirty="0"/>
          </a:p>
        </p:txBody>
      </p:sp>
      <p:pic>
        <p:nvPicPr>
          <p:cNvPr id="15" name="Image 3" descr="preencoded.png">    </p:cNvPr>
          <p:cNvPicPr>
            <a:picLocks noChangeAspect="1"/>
          </p:cNvPicPr>
          <p:nvPr/>
        </p:nvPicPr>
        <p:blipFill>
          <a:blip r:embed="rId4"/>
          <a:stretch>
            <a:fillRect/>
          </a:stretch>
        </p:blipFill>
        <p:spPr>
          <a:xfrm>
            <a:off x="9684544" y="7344847"/>
            <a:ext cx="4531876" cy="15240"/>
          </a:xfrm>
          <a:prstGeom prst="rect">
            <a:avLst/>
          </a:prstGeom>
        </p:spPr>
      </p:pic>
      <p:sp>
        <p:nvSpPr>
          <p:cNvPr id="16" name="Text 10"/>
          <p:cNvSpPr/>
          <p:nvPr/>
        </p:nvSpPr>
        <p:spPr>
          <a:xfrm>
            <a:off x="9684544" y="7427000"/>
            <a:ext cx="1874877" cy="161687"/>
          </a:xfrm>
          <a:prstGeom prst="rect">
            <a:avLst/>
          </a:prstGeom>
          <a:noFill/>
          <a:ln/>
        </p:spPr>
        <p:txBody>
          <a:bodyPr wrap="none" lIns="0" tIns="0" rIns="0" bIns="0" rtlCol="0" anchor="t"/>
          <a:lstStyle/>
          <a:p>
            <a:pPr algn="l" indent="0" marL="0">
              <a:lnSpc>
                <a:spcPts val="1250"/>
              </a:lnSpc>
              <a:buNone/>
            </a:pPr>
            <a:r>
              <a:rPr lang="en-US" sz="1000" b="1" dirty="0">
                <a:solidFill>
                  <a:srgbClr val="DAD1E6"/>
                </a:solidFill>
                <a:latin typeface="Inconsolata Bold" pitchFamily="34" charset="0"/>
                <a:ea typeface="Inconsolata Bold" pitchFamily="34" charset="-122"/>
                <a:cs typeface="Inconsolata Bold" pitchFamily="34" charset="-120"/>
              </a:rPr>
              <a:t>Optimized Performance Metrics</a:t>
            </a:r>
            <a:endParaRPr lang="en-US" sz="1000" dirty="0"/>
          </a:p>
        </p:txBody>
      </p:sp>
      <p:sp>
        <p:nvSpPr>
          <p:cNvPr id="17" name="Text 11"/>
          <p:cNvSpPr/>
          <p:nvPr/>
        </p:nvSpPr>
        <p:spPr>
          <a:xfrm>
            <a:off x="9684544" y="7650718"/>
            <a:ext cx="4531876" cy="330994"/>
          </a:xfrm>
          <a:prstGeom prst="rect">
            <a:avLst/>
          </a:prstGeom>
          <a:noFill/>
          <a:ln/>
        </p:spPr>
        <p:txBody>
          <a:bodyPr wrap="square" lIns="0" tIns="0" rIns="0" bIns="0" rtlCol="0" anchor="t"/>
          <a:lstStyle/>
          <a:p>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We prioritize recall (catching actual fraud) and precision (minimizing false alarms) over simple accuracy, using PR-AUC as our primary evaluation metric for imbalanced classification.</a:t>
            </a:r>
            <a:endParaRPr lang="en-US" sz="800" dirty="0"/>
          </a:p>
        </p:txBody>
      </p:sp>
      <p:sp>
        <p:nvSpPr>
          <p:cNvPr id="18" name="Text 12"/>
          <p:cNvSpPr/>
          <p:nvPr/>
        </p:nvSpPr>
        <p:spPr>
          <a:xfrm>
            <a:off x="413861" y="8341043"/>
            <a:ext cx="13802678" cy="330994"/>
          </a:xfrm>
          <a:prstGeom prst="rect">
            <a:avLst/>
          </a:prstGeom>
          <a:noFill/>
          <a:ln/>
        </p:spPr>
        <p:txBody>
          <a:bodyPr wrap="square" lIns="0" tIns="0" rIns="0" bIns="0" rtlCol="0" anchor="t"/>
          <a:lstStyle/>
          <a:p>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Our feature engineering process goes beyond simple aggregations to capture </a:t>
            </a:r>
            <a:pPr algn="l" indent="0" marL="0">
              <a:lnSpc>
                <a:spcPts val="1300"/>
              </a:lnSpc>
              <a:buNone/>
            </a:pPr>
            <a:r>
              <a:rPr lang="en-US" sz="800" b="1" dirty="0">
                <a:solidFill>
                  <a:srgbClr val="DAD1E6"/>
                </a:solidFill>
                <a:latin typeface="Fira Sans" pitchFamily="34" charset="0"/>
                <a:ea typeface="Fira Sans" pitchFamily="34" charset="-122"/>
                <a:cs typeface="Fira Sans" pitchFamily="34" charset="-120"/>
              </a:rPr>
              <a:t>nuanced behavioral patterns</a:t>
            </a:r>
            <a:pPr algn="l" indent="0" marL="0">
              <a:lnSpc>
                <a:spcPts val="1300"/>
              </a:lnSpc>
              <a:buNone/>
            </a:pPr>
            <a:r>
              <a:rPr lang="en-US" sz="800" dirty="0">
                <a:solidFill>
                  <a:srgbClr val="DAD1E6"/>
                </a:solidFill>
                <a:latin typeface="Fira Sans" pitchFamily="34" charset="0"/>
                <a:ea typeface="Fira Sans" pitchFamily="34" charset="-122"/>
                <a:cs typeface="Fira Sans" pitchFamily="34" charset="-120"/>
              </a:rPr>
              <a:t>. We calculate claim frequency distributions, patient demographic diversity, chronic condition prevalence, and billing intensity across different service categories. These features enable models to distinguish between legitimate high-volume providers (like large hospitals) and fraudulent operations masquerading as busy practices.</a:t>
            </a:r>
            <a:endParaRPr lang="en-US" sz="800" dirty="0"/>
          </a:p>
        </p:txBody>
      </p:sp>
      <p:sp>
        <p:nvSpPr>
          <p:cNvPr id="19" name="Shape 13"/>
          <p:cNvSpPr/>
          <p:nvPr/>
        </p:nvSpPr>
        <p:spPr>
          <a:xfrm>
            <a:off x="413861" y="8767762"/>
            <a:ext cx="13802678" cy="439579"/>
          </a:xfrm>
          <a:prstGeom prst="roundRect">
            <a:avLst>
              <a:gd name="adj" fmla="val 3532"/>
            </a:avLst>
          </a:prstGeom>
          <a:solidFill>
            <a:srgbClr val="4A022B"/>
          </a:solidFill>
          <a:ln/>
        </p:spPr>
      </p:sp>
      <p:pic>
        <p:nvPicPr>
          <p:cNvPr id="20" name="Image 4" descr="preencoded.png">    </p:cNvPr>
          <p:cNvPicPr>
            <a:picLocks noChangeAspect="1"/>
          </p:cNvPicPr>
          <p:nvPr/>
        </p:nvPicPr>
        <p:blipFill>
          <a:blip r:embed="rId5"/>
          <a:stretch>
            <a:fillRect/>
          </a:stretch>
        </p:blipFill>
        <p:spPr>
          <a:xfrm>
            <a:off x="517327" y="8920758"/>
            <a:ext cx="129302" cy="103465"/>
          </a:xfrm>
          <a:prstGeom prst="rect">
            <a:avLst/>
          </a:prstGeom>
        </p:spPr>
      </p:pic>
      <p:sp>
        <p:nvSpPr>
          <p:cNvPr id="21" name="Text 14"/>
          <p:cNvSpPr/>
          <p:nvPr/>
        </p:nvSpPr>
        <p:spPr>
          <a:xfrm>
            <a:off x="750094" y="8917662"/>
            <a:ext cx="13362980" cy="165497"/>
          </a:xfrm>
          <a:prstGeom prst="rect">
            <a:avLst/>
          </a:prstGeom>
          <a:noFill/>
          <a:ln/>
        </p:spPr>
        <p:txBody>
          <a:bodyPr wrap="none" lIns="0" tIns="0" rIns="0" bIns="0" rtlCol="0" anchor="t"/>
          <a:lstStyle/>
          <a:p>
            <a:pPr algn="l" indent="0" marL="0">
              <a:lnSpc>
                <a:spcPts val="1300"/>
              </a:lnSpc>
              <a:buNone/>
            </a:pPr>
            <a:r>
              <a:rPr lang="en-US" sz="800" b="1" dirty="0">
                <a:solidFill>
                  <a:srgbClr val="FFFFFF"/>
                </a:solidFill>
                <a:latin typeface="Fira Sans" pitchFamily="34" charset="0"/>
                <a:ea typeface="Fira Sans" pitchFamily="34" charset="-122"/>
                <a:cs typeface="Fira Sans" pitchFamily="34" charset="-120"/>
              </a:rPr>
              <a:t>Technical Insight:</a:t>
            </a:r>
            <a:pPr algn="l" indent="0" marL="0">
              <a:lnSpc>
                <a:spcPts val="1300"/>
              </a:lnSpc>
              <a:buNone/>
            </a:pPr>
            <a:r>
              <a:rPr lang="en-US" sz="800" dirty="0">
                <a:solidFill>
                  <a:srgbClr val="FFFFFF"/>
                </a:solidFill>
                <a:latin typeface="Fira Sans" pitchFamily="34" charset="0"/>
                <a:ea typeface="Fira Sans" pitchFamily="34" charset="-122"/>
                <a:cs typeface="Fira Sans" pitchFamily="34" charset="-120"/>
              </a:rPr>
              <a:t> The choice to focus on provider-level features rather than individual claims reflects our business objective—identifying risky providers for investigation rather than flagging individual suspicious transactions.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8060" y="459224"/>
            <a:ext cx="5635347" cy="521851"/>
          </a:xfrm>
          <a:prstGeom prst="rect">
            <a:avLst/>
          </a:prstGeom>
          <a:noFill/>
          <a:ln/>
        </p:spPr>
        <p:txBody>
          <a:bodyPr wrap="none" lIns="0" tIns="0" rIns="0" bIns="0" rtlCol="0" anchor="t"/>
          <a:lstStyle/>
          <a:p>
            <a:pPr algn="l" indent="0" marL="0">
              <a:lnSpc>
                <a:spcPts val="4100"/>
              </a:lnSpc>
              <a:buNone/>
            </a:pPr>
            <a:r>
              <a:rPr lang="en-US" sz="3250" b="1" dirty="0">
                <a:solidFill>
                  <a:srgbClr val="F94CAF"/>
                </a:solidFill>
                <a:latin typeface="Inconsolata Bold" pitchFamily="34" charset="0"/>
                <a:ea typeface="Inconsolata Bold" pitchFamily="34" charset="-122"/>
                <a:cs typeface="Inconsolata Bold" pitchFamily="34" charset="-120"/>
              </a:rPr>
              <a:t>Comparing Model Performance</a:t>
            </a:r>
            <a:endParaRPr lang="en-US" sz="3250" dirty="0"/>
          </a:p>
        </p:txBody>
      </p:sp>
      <p:sp>
        <p:nvSpPr>
          <p:cNvPr id="3" name="Text 1"/>
          <p:cNvSpPr/>
          <p:nvPr/>
        </p:nvSpPr>
        <p:spPr>
          <a:xfrm>
            <a:off x="668060" y="1315045"/>
            <a:ext cx="13294281" cy="534352"/>
          </a:xfrm>
          <a:prstGeom prst="rect">
            <a:avLst/>
          </a:prstGeom>
          <a:noFill/>
          <a:ln/>
        </p:spPr>
        <p:txBody>
          <a:bodyPr wrap="squar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We evaluated three powerful machine learning algorithms, each offering different strengths for fraud detection. Our comparison focuses on metrics that matter for CMS investigators: </a:t>
            </a:r>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how many fraud cases we catch (recall), how many false alarms we generate (precision), and overall discrimination ability (PR-AUC)</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a:t>
            </a:r>
            <a:endParaRPr lang="en-US" sz="1300" dirty="0"/>
          </a:p>
        </p:txBody>
      </p:sp>
      <p:sp>
        <p:nvSpPr>
          <p:cNvPr id="4" name="Shape 2"/>
          <p:cNvSpPr/>
          <p:nvPr/>
        </p:nvSpPr>
        <p:spPr>
          <a:xfrm>
            <a:off x="668060" y="2037278"/>
            <a:ext cx="13294281" cy="1953578"/>
          </a:xfrm>
          <a:prstGeom prst="roundRect">
            <a:avLst>
              <a:gd name="adj" fmla="val 1282"/>
            </a:avLst>
          </a:prstGeom>
          <a:noFill/>
          <a:ln w="7620">
            <a:solidFill>
              <a:srgbClr val="FFFFFF">
                <a:alpha val="24000"/>
              </a:srgbClr>
            </a:solidFill>
            <a:prstDash val="solid"/>
          </a:ln>
        </p:spPr>
      </p:sp>
      <p:sp>
        <p:nvSpPr>
          <p:cNvPr id="5" name="Shape 3"/>
          <p:cNvSpPr/>
          <p:nvPr/>
        </p:nvSpPr>
        <p:spPr>
          <a:xfrm>
            <a:off x="675680" y="2044898"/>
            <a:ext cx="13279041" cy="482679"/>
          </a:xfrm>
          <a:prstGeom prst="rect">
            <a:avLst/>
          </a:prstGeom>
          <a:solidFill>
            <a:srgbClr val="FFFFFF">
              <a:alpha val="4000"/>
            </a:srgbClr>
          </a:solidFill>
          <a:ln/>
        </p:spPr>
      </p:sp>
      <p:sp>
        <p:nvSpPr>
          <p:cNvPr id="6" name="Text 4"/>
          <p:cNvSpPr/>
          <p:nvPr/>
        </p:nvSpPr>
        <p:spPr>
          <a:xfrm>
            <a:off x="842724" y="2152650"/>
            <a:ext cx="2982039" cy="267176"/>
          </a:xfrm>
          <a:prstGeom prst="rect">
            <a:avLst/>
          </a:prstGeom>
          <a:noFill/>
          <a:ln/>
        </p:spPr>
        <p:txBody>
          <a:bodyPr wrap="non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Model</a:t>
            </a:r>
            <a:endParaRPr lang="en-US" sz="1300" dirty="0"/>
          </a:p>
        </p:txBody>
      </p:sp>
      <p:sp>
        <p:nvSpPr>
          <p:cNvPr id="7" name="Text 5"/>
          <p:cNvSpPr/>
          <p:nvPr/>
        </p:nvSpPr>
        <p:spPr>
          <a:xfrm>
            <a:off x="4166235" y="2152650"/>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PR-AUC</a:t>
            </a:r>
            <a:endParaRPr lang="en-US" sz="1300" dirty="0"/>
          </a:p>
        </p:txBody>
      </p:sp>
      <p:sp>
        <p:nvSpPr>
          <p:cNvPr id="8" name="Text 6"/>
          <p:cNvSpPr/>
          <p:nvPr/>
        </p:nvSpPr>
        <p:spPr>
          <a:xfrm>
            <a:off x="6822043" y="2152650"/>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Recall</a:t>
            </a:r>
            <a:endParaRPr lang="en-US" sz="1300" dirty="0"/>
          </a:p>
        </p:txBody>
      </p:sp>
      <p:sp>
        <p:nvSpPr>
          <p:cNvPr id="9" name="Text 7"/>
          <p:cNvSpPr/>
          <p:nvPr/>
        </p:nvSpPr>
        <p:spPr>
          <a:xfrm>
            <a:off x="9477851" y="2152650"/>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Precision</a:t>
            </a:r>
            <a:endParaRPr lang="en-US" sz="1300" dirty="0"/>
          </a:p>
        </p:txBody>
      </p:sp>
      <p:sp>
        <p:nvSpPr>
          <p:cNvPr id="10" name="Text 8"/>
          <p:cNvSpPr/>
          <p:nvPr/>
        </p:nvSpPr>
        <p:spPr>
          <a:xfrm>
            <a:off x="12133659" y="2152650"/>
            <a:ext cx="1654135" cy="267176"/>
          </a:xfrm>
          <a:prstGeom prst="rect">
            <a:avLst/>
          </a:prstGeom>
          <a:noFill/>
          <a:ln/>
        </p:spPr>
        <p:txBody>
          <a:bodyPr wrap="non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Status</a:t>
            </a:r>
            <a:endParaRPr lang="en-US" sz="1300" dirty="0"/>
          </a:p>
        </p:txBody>
      </p:sp>
      <p:sp>
        <p:nvSpPr>
          <p:cNvPr id="11" name="Shape 9"/>
          <p:cNvSpPr/>
          <p:nvPr/>
        </p:nvSpPr>
        <p:spPr>
          <a:xfrm>
            <a:off x="675680" y="2527578"/>
            <a:ext cx="13279041" cy="490299"/>
          </a:xfrm>
          <a:prstGeom prst="rect">
            <a:avLst/>
          </a:prstGeom>
          <a:solidFill>
            <a:srgbClr val="000000">
              <a:alpha val="4000"/>
            </a:srgbClr>
          </a:solidFill>
          <a:ln/>
        </p:spPr>
      </p:sp>
      <p:sp>
        <p:nvSpPr>
          <p:cNvPr id="12" name="Text 10"/>
          <p:cNvSpPr/>
          <p:nvPr/>
        </p:nvSpPr>
        <p:spPr>
          <a:xfrm>
            <a:off x="842724" y="2635329"/>
            <a:ext cx="2982039" cy="267176"/>
          </a:xfrm>
          <a:prstGeom prst="rect">
            <a:avLst/>
          </a:prstGeom>
          <a:noFill/>
          <a:ln/>
        </p:spPr>
        <p:txBody>
          <a:bodyPr wrap="none" lIns="0" tIns="0" rIns="0" bIns="0" rtlCol="0" anchor="t"/>
          <a:lstStyle/>
          <a:p>
            <a:pPr algn="l" indent="0" marL="0">
              <a:lnSpc>
                <a:spcPts val="2100"/>
              </a:lnSpc>
              <a:buNone/>
            </a:pPr>
            <a:r>
              <a:rPr lang="en-US" sz="1300" b="1" dirty="0">
                <a:solidFill>
                  <a:srgbClr val="F94CAF"/>
                </a:solidFill>
                <a:latin typeface="Fira Sans" pitchFamily="34" charset="0"/>
                <a:ea typeface="Fira Sans" pitchFamily="34" charset="-122"/>
                <a:cs typeface="Fira Sans" pitchFamily="34" charset="-120"/>
              </a:rPr>
              <a:t>Logistic Regression</a:t>
            </a:r>
            <a:endParaRPr lang="en-US" sz="1300" dirty="0"/>
          </a:p>
        </p:txBody>
      </p:sp>
      <p:sp>
        <p:nvSpPr>
          <p:cNvPr id="13" name="Text 11"/>
          <p:cNvSpPr/>
          <p:nvPr/>
        </p:nvSpPr>
        <p:spPr>
          <a:xfrm>
            <a:off x="4166235" y="2635329"/>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F94CAF"/>
                </a:solidFill>
                <a:latin typeface="Fira Sans" pitchFamily="34" charset="0"/>
                <a:ea typeface="Fira Sans" pitchFamily="34" charset="-122"/>
                <a:cs typeface="Fira Sans" pitchFamily="34" charset="-120"/>
              </a:rPr>
              <a:t>74.4%</a:t>
            </a:r>
            <a:endParaRPr lang="en-US" sz="1300" dirty="0"/>
          </a:p>
        </p:txBody>
      </p:sp>
      <p:sp>
        <p:nvSpPr>
          <p:cNvPr id="14" name="Text 12"/>
          <p:cNvSpPr/>
          <p:nvPr/>
        </p:nvSpPr>
        <p:spPr>
          <a:xfrm>
            <a:off x="6822043" y="2635329"/>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F94CAF"/>
                </a:solidFill>
                <a:latin typeface="Fira Sans" pitchFamily="34" charset="0"/>
                <a:ea typeface="Fira Sans" pitchFamily="34" charset="-122"/>
                <a:cs typeface="Fira Sans" pitchFamily="34" charset="-120"/>
              </a:rPr>
              <a:t>88.1%</a:t>
            </a:r>
            <a:endParaRPr lang="en-US" sz="1300" dirty="0"/>
          </a:p>
        </p:txBody>
      </p:sp>
      <p:sp>
        <p:nvSpPr>
          <p:cNvPr id="15" name="Text 13"/>
          <p:cNvSpPr/>
          <p:nvPr/>
        </p:nvSpPr>
        <p:spPr>
          <a:xfrm>
            <a:off x="9477851" y="2635329"/>
            <a:ext cx="2314337" cy="267176"/>
          </a:xfrm>
          <a:prstGeom prst="rect">
            <a:avLst/>
          </a:prstGeom>
          <a:noFill/>
          <a:ln/>
        </p:spPr>
        <p:txBody>
          <a:bodyPr wrap="none" lIns="0" tIns="0" rIns="0" bIns="0" rtlCol="0" anchor="t"/>
          <a:lstStyle/>
          <a:p>
            <a:pPr algn="l" indent="0" marL="0">
              <a:lnSpc>
                <a:spcPts val="2100"/>
              </a:lnSpc>
              <a:buNone/>
            </a:pPr>
            <a:r>
              <a:rPr lang="en-US" sz="1300" b="1" dirty="0">
                <a:solidFill>
                  <a:srgbClr val="F94CAF"/>
                </a:solidFill>
                <a:latin typeface="Fira Sans" pitchFamily="34" charset="0"/>
                <a:ea typeface="Fira Sans" pitchFamily="34" charset="-122"/>
                <a:cs typeface="Fira Sans" pitchFamily="34" charset="-120"/>
              </a:rPr>
              <a:t>41.0%</a:t>
            </a:r>
            <a:endParaRPr lang="en-US" sz="1300" dirty="0"/>
          </a:p>
        </p:txBody>
      </p:sp>
      <p:sp>
        <p:nvSpPr>
          <p:cNvPr id="16" name="Text 14"/>
          <p:cNvSpPr/>
          <p:nvPr/>
        </p:nvSpPr>
        <p:spPr>
          <a:xfrm>
            <a:off x="12133659" y="2635329"/>
            <a:ext cx="1654135" cy="274796"/>
          </a:xfrm>
          <a:prstGeom prst="rect">
            <a:avLst/>
          </a:prstGeom>
          <a:noFill/>
          <a:ln/>
        </p:spPr>
        <p:txBody>
          <a:bodyPr wrap="none" lIns="0" tIns="0" rIns="0" bIns="0" rtlCol="0" anchor="t"/>
          <a:lstStyle/>
          <a:p>
            <a:pPr algn="l" indent="0" marL="0">
              <a:lnSpc>
                <a:spcPts val="2100"/>
              </a:lnSpc>
              <a:buNone/>
            </a:pPr>
            <a:r>
              <a:rPr lang="en-US" sz="1300" b="1" dirty="0">
                <a:solidFill>
                  <a:srgbClr val="000000"/>
                </a:solidFill>
                <a:latin typeface="Fira Sans" pitchFamily="34" charset="0"/>
                <a:ea typeface="Fira Sans" pitchFamily="34" charset="-122"/>
                <a:cs typeface="Fira Sans" pitchFamily="34" charset="-120"/>
              </a:rPr>
              <a:t>⭐</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 Selected</a:t>
            </a:r>
            <a:endParaRPr lang="en-US" sz="1300" dirty="0"/>
          </a:p>
        </p:txBody>
      </p:sp>
      <p:sp>
        <p:nvSpPr>
          <p:cNvPr id="17" name="Shape 15"/>
          <p:cNvSpPr/>
          <p:nvPr/>
        </p:nvSpPr>
        <p:spPr>
          <a:xfrm>
            <a:off x="675680" y="3017877"/>
            <a:ext cx="13279041" cy="482679"/>
          </a:xfrm>
          <a:prstGeom prst="rect">
            <a:avLst/>
          </a:prstGeom>
          <a:solidFill>
            <a:srgbClr val="FFFFFF">
              <a:alpha val="4000"/>
            </a:srgbClr>
          </a:solidFill>
          <a:ln/>
        </p:spPr>
      </p:sp>
      <p:sp>
        <p:nvSpPr>
          <p:cNvPr id="18" name="Text 16"/>
          <p:cNvSpPr/>
          <p:nvPr/>
        </p:nvSpPr>
        <p:spPr>
          <a:xfrm>
            <a:off x="842724" y="3125629"/>
            <a:ext cx="2982039"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Random Forest</a:t>
            </a:r>
            <a:endParaRPr lang="en-US" sz="1300" dirty="0"/>
          </a:p>
        </p:txBody>
      </p:sp>
      <p:sp>
        <p:nvSpPr>
          <p:cNvPr id="19" name="Text 17"/>
          <p:cNvSpPr/>
          <p:nvPr/>
        </p:nvSpPr>
        <p:spPr>
          <a:xfrm>
            <a:off x="4166235" y="3125629"/>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71.6%</a:t>
            </a:r>
            <a:endParaRPr lang="en-US" sz="1300" dirty="0"/>
          </a:p>
        </p:txBody>
      </p:sp>
      <p:sp>
        <p:nvSpPr>
          <p:cNvPr id="20" name="Text 18"/>
          <p:cNvSpPr/>
          <p:nvPr/>
        </p:nvSpPr>
        <p:spPr>
          <a:xfrm>
            <a:off x="6822043" y="3125629"/>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60.4%</a:t>
            </a:r>
            <a:endParaRPr lang="en-US" sz="1300" dirty="0"/>
          </a:p>
        </p:txBody>
      </p:sp>
      <p:sp>
        <p:nvSpPr>
          <p:cNvPr id="21" name="Text 19"/>
          <p:cNvSpPr/>
          <p:nvPr/>
        </p:nvSpPr>
        <p:spPr>
          <a:xfrm>
            <a:off x="9477851" y="3125629"/>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68.5%</a:t>
            </a:r>
            <a:endParaRPr lang="en-US" sz="1300" dirty="0"/>
          </a:p>
        </p:txBody>
      </p:sp>
      <p:sp>
        <p:nvSpPr>
          <p:cNvPr id="22" name="Text 20"/>
          <p:cNvSpPr/>
          <p:nvPr/>
        </p:nvSpPr>
        <p:spPr>
          <a:xfrm>
            <a:off x="12133659" y="3125629"/>
            <a:ext cx="1654135"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Higher precision</a:t>
            </a:r>
            <a:endParaRPr lang="en-US" sz="1300" dirty="0"/>
          </a:p>
        </p:txBody>
      </p:sp>
      <p:sp>
        <p:nvSpPr>
          <p:cNvPr id="23" name="Shape 21"/>
          <p:cNvSpPr/>
          <p:nvPr/>
        </p:nvSpPr>
        <p:spPr>
          <a:xfrm>
            <a:off x="675680" y="3500557"/>
            <a:ext cx="13279041" cy="482679"/>
          </a:xfrm>
          <a:prstGeom prst="rect">
            <a:avLst/>
          </a:prstGeom>
          <a:solidFill>
            <a:srgbClr val="000000">
              <a:alpha val="4000"/>
            </a:srgbClr>
          </a:solidFill>
          <a:ln/>
        </p:spPr>
      </p:sp>
      <p:sp>
        <p:nvSpPr>
          <p:cNvPr id="24" name="Text 22"/>
          <p:cNvSpPr/>
          <p:nvPr/>
        </p:nvSpPr>
        <p:spPr>
          <a:xfrm>
            <a:off x="842724" y="3608308"/>
            <a:ext cx="2982039"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Gradient Boosting</a:t>
            </a:r>
            <a:endParaRPr lang="en-US" sz="1300" dirty="0"/>
          </a:p>
        </p:txBody>
      </p:sp>
      <p:sp>
        <p:nvSpPr>
          <p:cNvPr id="25" name="Text 23"/>
          <p:cNvSpPr/>
          <p:nvPr/>
        </p:nvSpPr>
        <p:spPr>
          <a:xfrm>
            <a:off x="4166235" y="3608308"/>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73.4%</a:t>
            </a:r>
            <a:endParaRPr lang="en-US" sz="1300" dirty="0"/>
          </a:p>
        </p:txBody>
      </p:sp>
      <p:sp>
        <p:nvSpPr>
          <p:cNvPr id="26" name="Text 24"/>
          <p:cNvSpPr/>
          <p:nvPr/>
        </p:nvSpPr>
        <p:spPr>
          <a:xfrm>
            <a:off x="6822043" y="3608308"/>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84.2%</a:t>
            </a:r>
            <a:endParaRPr lang="en-US" sz="1300" dirty="0"/>
          </a:p>
        </p:txBody>
      </p:sp>
      <p:sp>
        <p:nvSpPr>
          <p:cNvPr id="27" name="Text 25"/>
          <p:cNvSpPr/>
          <p:nvPr/>
        </p:nvSpPr>
        <p:spPr>
          <a:xfrm>
            <a:off x="9477851" y="3608308"/>
            <a:ext cx="2314337"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44.7%</a:t>
            </a:r>
            <a:endParaRPr lang="en-US" sz="1300" dirty="0"/>
          </a:p>
        </p:txBody>
      </p:sp>
      <p:sp>
        <p:nvSpPr>
          <p:cNvPr id="28" name="Text 26"/>
          <p:cNvSpPr/>
          <p:nvPr/>
        </p:nvSpPr>
        <p:spPr>
          <a:xfrm>
            <a:off x="12133659" y="3608308"/>
            <a:ext cx="1654135" cy="267176"/>
          </a:xfrm>
          <a:prstGeom prst="rect">
            <a:avLst/>
          </a:prstGeom>
          <a:noFill/>
          <a:ln/>
        </p:spPr>
        <p:txBody>
          <a:bodyPr wrap="non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Good recall</a:t>
            </a:r>
            <a:endParaRPr lang="en-US" sz="1300" dirty="0"/>
          </a:p>
        </p:txBody>
      </p:sp>
      <p:sp>
        <p:nvSpPr>
          <p:cNvPr id="29" name="Shape 27"/>
          <p:cNvSpPr/>
          <p:nvPr/>
        </p:nvSpPr>
        <p:spPr>
          <a:xfrm>
            <a:off x="668060" y="4178737"/>
            <a:ext cx="4320064" cy="2610922"/>
          </a:xfrm>
          <a:prstGeom prst="roundRect">
            <a:avLst>
              <a:gd name="adj" fmla="val 960"/>
            </a:avLst>
          </a:prstGeom>
          <a:solidFill>
            <a:srgbClr val="241631"/>
          </a:solidFill>
          <a:ln w="22860">
            <a:solidFill>
              <a:srgbClr val="5C4E69"/>
            </a:solidFill>
            <a:prstDash val="solid"/>
          </a:ln>
        </p:spPr>
      </p:sp>
      <p:sp>
        <p:nvSpPr>
          <p:cNvPr id="30" name="Text 28"/>
          <p:cNvSpPr/>
          <p:nvPr/>
        </p:nvSpPr>
        <p:spPr>
          <a:xfrm>
            <a:off x="857845" y="4368522"/>
            <a:ext cx="2920365" cy="260985"/>
          </a:xfrm>
          <a:prstGeom prst="rect">
            <a:avLst/>
          </a:prstGeom>
          <a:noFill/>
          <a:ln/>
        </p:spPr>
        <p:txBody>
          <a:bodyPr wrap="none" lIns="0" tIns="0" rIns="0" bIns="0" rtlCol="0" anchor="t"/>
          <a:lstStyle/>
          <a:p>
            <a:pPr algn="l" indent="0" marL="0">
              <a:lnSpc>
                <a:spcPts val="2050"/>
              </a:lnSpc>
              <a:buNone/>
            </a:pPr>
            <a:r>
              <a:rPr lang="en-US" sz="1600" b="1" dirty="0">
                <a:solidFill>
                  <a:srgbClr val="DAD1E6"/>
                </a:solidFill>
                <a:latin typeface="Inconsolata Bold" pitchFamily="34" charset="0"/>
                <a:ea typeface="Inconsolata Bold" pitchFamily="34" charset="-122"/>
                <a:cs typeface="Inconsolata Bold" pitchFamily="34" charset="-120"/>
              </a:rPr>
              <a:t>Why Logistic Regression Wins</a:t>
            </a:r>
            <a:endParaRPr lang="en-US" sz="1600" dirty="0"/>
          </a:p>
        </p:txBody>
      </p:sp>
      <p:sp>
        <p:nvSpPr>
          <p:cNvPr id="31" name="Text 29"/>
          <p:cNvSpPr/>
          <p:nvPr/>
        </p:nvSpPr>
        <p:spPr>
          <a:xfrm>
            <a:off x="857845" y="4729639"/>
            <a:ext cx="3940493" cy="1870234"/>
          </a:xfrm>
          <a:prstGeom prst="rect">
            <a:avLst/>
          </a:prstGeom>
          <a:noFill/>
          <a:ln/>
        </p:spPr>
        <p:txBody>
          <a:bodyPr wrap="squar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Interpretability is crucial for regulatory compliance.</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 Logistic regression provides clear coefficient weights that explain exactly why each provider was flagged—essential for defending decisions in audits or legal proceedings. Investigators can point to specific billing patterns and justify their case prioritization.</a:t>
            </a:r>
            <a:endParaRPr lang="en-US" sz="1300" dirty="0"/>
          </a:p>
        </p:txBody>
      </p:sp>
      <p:sp>
        <p:nvSpPr>
          <p:cNvPr id="32" name="Shape 30"/>
          <p:cNvSpPr/>
          <p:nvPr/>
        </p:nvSpPr>
        <p:spPr>
          <a:xfrm>
            <a:off x="5155049" y="4178737"/>
            <a:ext cx="4320183" cy="2610922"/>
          </a:xfrm>
          <a:prstGeom prst="roundRect">
            <a:avLst>
              <a:gd name="adj" fmla="val 960"/>
            </a:avLst>
          </a:prstGeom>
          <a:solidFill>
            <a:srgbClr val="241631"/>
          </a:solidFill>
          <a:ln w="22860">
            <a:solidFill>
              <a:srgbClr val="5C4E69"/>
            </a:solidFill>
            <a:prstDash val="solid"/>
          </a:ln>
        </p:spPr>
      </p:sp>
      <p:sp>
        <p:nvSpPr>
          <p:cNvPr id="33" name="Text 31"/>
          <p:cNvSpPr/>
          <p:nvPr/>
        </p:nvSpPr>
        <p:spPr>
          <a:xfrm>
            <a:off x="5344835" y="4368522"/>
            <a:ext cx="3024664" cy="260985"/>
          </a:xfrm>
          <a:prstGeom prst="rect">
            <a:avLst/>
          </a:prstGeom>
          <a:noFill/>
          <a:ln/>
        </p:spPr>
        <p:txBody>
          <a:bodyPr wrap="none" lIns="0" tIns="0" rIns="0" bIns="0" rtlCol="0" anchor="t"/>
          <a:lstStyle/>
          <a:p>
            <a:pPr algn="l" indent="0" marL="0">
              <a:lnSpc>
                <a:spcPts val="2050"/>
              </a:lnSpc>
              <a:buNone/>
            </a:pPr>
            <a:r>
              <a:rPr lang="en-US" sz="1600" b="1" dirty="0">
                <a:solidFill>
                  <a:srgbClr val="DAD1E6"/>
                </a:solidFill>
                <a:latin typeface="Inconsolata Bold" pitchFamily="34" charset="0"/>
                <a:ea typeface="Inconsolata Bold" pitchFamily="34" charset="-122"/>
                <a:cs typeface="Inconsolata Bold" pitchFamily="34" charset="-120"/>
              </a:rPr>
              <a:t>The Recall-Precision Tradeoff</a:t>
            </a:r>
            <a:endParaRPr lang="en-US" sz="1600" dirty="0"/>
          </a:p>
        </p:txBody>
      </p:sp>
      <p:sp>
        <p:nvSpPr>
          <p:cNvPr id="34" name="Text 32"/>
          <p:cNvSpPr/>
          <p:nvPr/>
        </p:nvSpPr>
        <p:spPr>
          <a:xfrm>
            <a:off x="5344835" y="4729639"/>
            <a:ext cx="3940612" cy="1603058"/>
          </a:xfrm>
          <a:prstGeom prst="rect">
            <a:avLst/>
          </a:prstGeom>
          <a:noFill/>
          <a:ln/>
        </p:spPr>
        <p:txBody>
          <a:bodyPr wrap="squar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Our model catches 88% of fraud cases</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 (recall) while maintaining 41% precision (meaning 4 out of 10 flagged providers are truly fraudulent). Random Forest offers higher precision but misses 40% of fraud cases—an unacceptable tradeoff when billions are at stake.</a:t>
            </a:r>
            <a:endParaRPr lang="en-US" sz="1300" dirty="0"/>
          </a:p>
        </p:txBody>
      </p:sp>
      <p:sp>
        <p:nvSpPr>
          <p:cNvPr id="35" name="Shape 33"/>
          <p:cNvSpPr/>
          <p:nvPr/>
        </p:nvSpPr>
        <p:spPr>
          <a:xfrm>
            <a:off x="9642158" y="4178737"/>
            <a:ext cx="4320183" cy="2610922"/>
          </a:xfrm>
          <a:prstGeom prst="roundRect">
            <a:avLst>
              <a:gd name="adj" fmla="val 960"/>
            </a:avLst>
          </a:prstGeom>
          <a:solidFill>
            <a:srgbClr val="241631"/>
          </a:solidFill>
          <a:ln w="22860">
            <a:solidFill>
              <a:srgbClr val="5C4E69"/>
            </a:solidFill>
            <a:prstDash val="solid"/>
          </a:ln>
        </p:spPr>
      </p:sp>
      <p:sp>
        <p:nvSpPr>
          <p:cNvPr id="36" name="Text 34"/>
          <p:cNvSpPr/>
          <p:nvPr/>
        </p:nvSpPr>
        <p:spPr>
          <a:xfrm>
            <a:off x="9831943" y="4368522"/>
            <a:ext cx="2503170" cy="260985"/>
          </a:xfrm>
          <a:prstGeom prst="rect">
            <a:avLst/>
          </a:prstGeom>
          <a:noFill/>
          <a:ln/>
        </p:spPr>
        <p:txBody>
          <a:bodyPr wrap="none" lIns="0" tIns="0" rIns="0" bIns="0" rtlCol="0" anchor="t"/>
          <a:lstStyle/>
          <a:p>
            <a:pPr algn="l" indent="0" marL="0">
              <a:lnSpc>
                <a:spcPts val="2050"/>
              </a:lnSpc>
              <a:buNone/>
            </a:pPr>
            <a:r>
              <a:rPr lang="en-US" sz="1600" b="1" dirty="0">
                <a:solidFill>
                  <a:srgbClr val="DAD1E6"/>
                </a:solidFill>
                <a:latin typeface="Inconsolata Bold" pitchFamily="34" charset="0"/>
                <a:ea typeface="Inconsolata Bold" pitchFamily="34" charset="-122"/>
                <a:cs typeface="Inconsolata Bold" pitchFamily="34" charset="-120"/>
              </a:rPr>
              <a:t>Business Context Matters</a:t>
            </a:r>
            <a:endParaRPr lang="en-US" sz="1600" dirty="0"/>
          </a:p>
        </p:txBody>
      </p:sp>
      <p:sp>
        <p:nvSpPr>
          <p:cNvPr id="37" name="Text 35"/>
          <p:cNvSpPr/>
          <p:nvPr/>
        </p:nvSpPr>
        <p:spPr>
          <a:xfrm>
            <a:off x="9831943" y="4729639"/>
            <a:ext cx="3940612" cy="1603058"/>
          </a:xfrm>
          <a:prstGeom prst="rect">
            <a:avLst/>
          </a:prstGeom>
          <a:noFill/>
          <a:ln/>
        </p:spPr>
        <p:txBody>
          <a:bodyPr wrap="square" lIns="0" tIns="0" rIns="0" bIns="0" rtlCol="0" anchor="t"/>
          <a:lstStyle/>
          <a:p>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Investigation costs are manageable compared to fraud losses.</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 Spending $3,000 to investigate a provider is worthwhile if it catches even one fraudulent operation billing $584K annually. Our precision threshold balances workload with fraud recovery potential.</a:t>
            </a:r>
            <a:endParaRPr lang="en-US" sz="1300" dirty="0"/>
          </a:p>
        </p:txBody>
      </p:sp>
      <p:sp>
        <p:nvSpPr>
          <p:cNvPr id="38" name="Text 36"/>
          <p:cNvSpPr/>
          <p:nvPr/>
        </p:nvSpPr>
        <p:spPr>
          <a:xfrm>
            <a:off x="668060" y="6977539"/>
            <a:ext cx="13294281" cy="801529"/>
          </a:xfrm>
          <a:prstGeom prst="rect">
            <a:avLst/>
          </a:prstGeom>
          <a:noFill/>
          <a:ln/>
        </p:spPr>
        <p:txBody>
          <a:bodyPr wrap="square" lIns="0" tIns="0" rIns="0" bIns="0" rtlCol="0" anchor="t"/>
          <a:lstStyle/>
          <a:p>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The </a:t>
            </a:r>
            <a:pPr algn="l" indent="0" marL="0">
              <a:lnSpc>
                <a:spcPts val="2100"/>
              </a:lnSpc>
              <a:buNone/>
            </a:pPr>
            <a:r>
              <a:rPr lang="en-US" sz="1300" b="1" dirty="0">
                <a:solidFill>
                  <a:srgbClr val="DAD1E6"/>
                </a:solidFill>
                <a:latin typeface="Fira Sans" pitchFamily="34" charset="0"/>
                <a:ea typeface="Fira Sans" pitchFamily="34" charset="-122"/>
                <a:cs typeface="Fira Sans" pitchFamily="34" charset="-120"/>
              </a:rPr>
              <a:t>Precision-Recall Area Under Curve (PR-AUC) of 74.4%</a:t>
            </a:r>
            <a:pPr algn="l" indent="0" marL="0">
              <a:lnSpc>
                <a:spcPts val="2100"/>
              </a:lnSpc>
              <a:buNone/>
            </a:pPr>
            <a:r>
              <a:rPr lang="en-US" sz="1300" dirty="0">
                <a:solidFill>
                  <a:srgbClr val="DAD1E6"/>
                </a:solidFill>
                <a:latin typeface="Fira Sans" pitchFamily="34" charset="0"/>
                <a:ea typeface="Fira Sans" pitchFamily="34" charset="-122"/>
                <a:cs typeface="Fira Sans" pitchFamily="34" charset="-120"/>
              </a:rPr>
              <a:t> represents strong performance for imbalanced classification. This metric focuses specifically on minority class prediction—unlike ROC-AUC which can be misleadingly optimistic when classes are imbalanced. Our logistic regression model substantially outperforms random baseline (9.4% PR-AUC) while maintaining the transparency required for regulatory applications.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272891"/>
            <a:ext cx="3472101" cy="310158"/>
          </a:xfrm>
          <a:prstGeom prst="rect">
            <a:avLst/>
          </a:prstGeom>
          <a:noFill/>
          <a:ln/>
        </p:spPr>
        <p:txBody>
          <a:bodyPr wrap="none" lIns="0" tIns="0" rIns="0" bIns="0" rtlCol="0" anchor="t"/>
          <a:lstStyle/>
          <a:p>
            <a:pPr algn="l" indent="0" marL="0">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Delivering Measurable Impact</a:t>
            </a:r>
            <a:endParaRPr lang="en-US" sz="1950" dirty="0"/>
          </a:p>
        </p:txBody>
      </p:sp>
      <p:sp>
        <p:nvSpPr>
          <p:cNvPr id="3" name="Text 1"/>
          <p:cNvSpPr/>
          <p:nvPr/>
        </p:nvSpPr>
        <p:spPr>
          <a:xfrm>
            <a:off x="3537109" y="1488400"/>
            <a:ext cx="1220510" cy="248007"/>
          </a:xfrm>
          <a:prstGeom prst="rect">
            <a:avLst/>
          </a:prstGeom>
          <a:noFill/>
          <a:ln/>
        </p:spPr>
        <p:txBody>
          <a:bodyPr wrap="none" lIns="0" tIns="0" rIns="0" bIns="0" rtlCol="0" anchor="t"/>
          <a:lstStyle/>
          <a:p>
            <a:pPr algn="ctr" indent="0" marL="0">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88.1%</a:t>
            </a:r>
            <a:endParaRPr lang="en-US" sz="1950" dirty="0"/>
          </a:p>
        </p:txBody>
      </p:sp>
      <p:pic>
        <p:nvPicPr>
          <p:cNvPr id="4" name="Image 0" descr="preencoded.png">    </p:cNvPr>
          <p:cNvPicPr>
            <a:picLocks noChangeAspect="1"/>
          </p:cNvPicPr>
          <p:nvPr/>
        </p:nvPicPr>
        <p:blipFill>
          <a:blip r:embed="rId1"/>
          <a:stretch>
            <a:fillRect/>
          </a:stretch>
        </p:blipFill>
        <p:spPr>
          <a:xfrm>
            <a:off x="3403163" y="868204"/>
            <a:ext cx="1488519" cy="1488519"/>
          </a:xfrm>
          <a:prstGeom prst="rect">
            <a:avLst/>
          </a:prstGeom>
        </p:spPr>
      </p:pic>
      <p:sp>
        <p:nvSpPr>
          <p:cNvPr id="5" name="Text 2"/>
          <p:cNvSpPr/>
          <p:nvPr/>
        </p:nvSpPr>
        <p:spPr>
          <a:xfrm>
            <a:off x="3527227" y="2480667"/>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Fraud Detection Rate</a:t>
            </a:r>
            <a:endParaRPr lang="en-US" sz="950" dirty="0"/>
          </a:p>
        </p:txBody>
      </p:sp>
      <p:sp>
        <p:nvSpPr>
          <p:cNvPr id="6" name="Text 3"/>
          <p:cNvSpPr/>
          <p:nvPr/>
        </p:nvSpPr>
        <p:spPr>
          <a:xfrm>
            <a:off x="396835" y="2734866"/>
            <a:ext cx="7501295" cy="158591"/>
          </a:xfrm>
          <a:prstGeom prst="rect">
            <a:avLst/>
          </a:prstGeom>
          <a:noFill/>
          <a:ln/>
        </p:spPr>
        <p:txBody>
          <a:bodyPr wrap="non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Our model successfully identifies nearly 9 out of every 10 fraudulent providers</a:t>
            </a:r>
            <a:endParaRPr lang="en-US" sz="750" dirty="0"/>
          </a:p>
        </p:txBody>
      </p:sp>
      <p:sp>
        <p:nvSpPr>
          <p:cNvPr id="7" name="Text 4"/>
          <p:cNvSpPr/>
          <p:nvPr/>
        </p:nvSpPr>
        <p:spPr>
          <a:xfrm>
            <a:off x="3537109" y="3736777"/>
            <a:ext cx="1220510" cy="248007"/>
          </a:xfrm>
          <a:prstGeom prst="rect">
            <a:avLst/>
          </a:prstGeom>
          <a:noFill/>
          <a:ln/>
        </p:spPr>
        <p:txBody>
          <a:bodyPr wrap="none" lIns="0" tIns="0" rIns="0" bIns="0" rtlCol="0" anchor="t"/>
          <a:lstStyle/>
          <a:p>
            <a:pPr algn="ctr" indent="0" marL="0">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41%</a:t>
            </a:r>
            <a:endParaRPr lang="en-US" sz="1950" dirty="0"/>
          </a:p>
        </p:txBody>
      </p:sp>
      <p:pic>
        <p:nvPicPr>
          <p:cNvPr id="8" name="Image 1" descr="preencoded.png">    </p:cNvPr>
          <p:cNvPicPr>
            <a:picLocks noChangeAspect="1"/>
          </p:cNvPicPr>
          <p:nvPr/>
        </p:nvPicPr>
        <p:blipFill>
          <a:blip r:embed="rId2"/>
          <a:stretch>
            <a:fillRect/>
          </a:stretch>
        </p:blipFill>
        <p:spPr>
          <a:xfrm>
            <a:off x="3403163" y="3116580"/>
            <a:ext cx="1488519" cy="1488519"/>
          </a:xfrm>
          <a:prstGeom prst="rect">
            <a:avLst/>
          </a:prstGeom>
        </p:spPr>
      </p:pic>
      <p:sp>
        <p:nvSpPr>
          <p:cNvPr id="9" name="Text 5"/>
          <p:cNvSpPr/>
          <p:nvPr/>
        </p:nvSpPr>
        <p:spPr>
          <a:xfrm>
            <a:off x="3527227" y="4729043"/>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Precision Score</a:t>
            </a:r>
            <a:endParaRPr lang="en-US" sz="950" dirty="0"/>
          </a:p>
        </p:txBody>
      </p:sp>
      <p:sp>
        <p:nvSpPr>
          <p:cNvPr id="10" name="Text 6"/>
          <p:cNvSpPr/>
          <p:nvPr/>
        </p:nvSpPr>
        <p:spPr>
          <a:xfrm>
            <a:off x="396835" y="4983242"/>
            <a:ext cx="7501295" cy="158591"/>
          </a:xfrm>
          <a:prstGeom prst="rect">
            <a:avLst/>
          </a:prstGeom>
          <a:noFill/>
          <a:ln/>
        </p:spPr>
        <p:txBody>
          <a:bodyPr wrap="non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4 out of 10 flagged cases represent actual fraud requiring investigation</a:t>
            </a:r>
            <a:endParaRPr lang="en-US" sz="750" dirty="0"/>
          </a:p>
        </p:txBody>
      </p:sp>
      <p:sp>
        <p:nvSpPr>
          <p:cNvPr id="11" name="Text 7"/>
          <p:cNvSpPr/>
          <p:nvPr/>
        </p:nvSpPr>
        <p:spPr>
          <a:xfrm>
            <a:off x="3537109" y="5985153"/>
            <a:ext cx="1220510" cy="248007"/>
          </a:xfrm>
          <a:prstGeom prst="rect">
            <a:avLst/>
          </a:prstGeom>
          <a:noFill/>
          <a:ln/>
        </p:spPr>
        <p:txBody>
          <a:bodyPr wrap="none" lIns="0" tIns="0" rIns="0" bIns="0" rtlCol="0" anchor="t"/>
          <a:lstStyle/>
          <a:p>
            <a:pPr algn="ctr" indent="0" marL="0">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59%</a:t>
            </a:r>
            <a:endParaRPr lang="en-US" sz="1950" dirty="0"/>
          </a:p>
        </p:txBody>
      </p:sp>
      <p:pic>
        <p:nvPicPr>
          <p:cNvPr id="12" name="Image 2" descr="preencoded.png">    </p:cNvPr>
          <p:cNvPicPr>
            <a:picLocks noChangeAspect="1"/>
          </p:cNvPicPr>
          <p:nvPr/>
        </p:nvPicPr>
        <p:blipFill>
          <a:blip r:embed="rId3"/>
          <a:stretch>
            <a:fillRect/>
          </a:stretch>
        </p:blipFill>
        <p:spPr>
          <a:xfrm>
            <a:off x="3403163" y="5364956"/>
            <a:ext cx="1488519" cy="1488519"/>
          </a:xfrm>
          <a:prstGeom prst="rect">
            <a:avLst/>
          </a:prstGeom>
        </p:spPr>
      </p:pic>
      <p:sp>
        <p:nvSpPr>
          <p:cNvPr id="13" name="Text 8"/>
          <p:cNvSpPr/>
          <p:nvPr/>
        </p:nvSpPr>
        <p:spPr>
          <a:xfrm>
            <a:off x="3527227" y="6977420"/>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Workload Reduction</a:t>
            </a:r>
            <a:endParaRPr lang="en-US" sz="950" dirty="0"/>
          </a:p>
        </p:txBody>
      </p:sp>
      <p:sp>
        <p:nvSpPr>
          <p:cNvPr id="14" name="Text 9"/>
          <p:cNvSpPr/>
          <p:nvPr/>
        </p:nvSpPr>
        <p:spPr>
          <a:xfrm>
            <a:off x="396835" y="7231618"/>
            <a:ext cx="7501295" cy="158591"/>
          </a:xfrm>
          <a:prstGeom prst="rect">
            <a:avLst/>
          </a:prstGeom>
          <a:noFill/>
          <a:ln/>
        </p:spPr>
        <p:txBody>
          <a:bodyPr wrap="non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Investigators can focus efforts on 169 high-risk providers instead of 5,410 total</a:t>
            </a:r>
            <a:endParaRPr lang="en-US" sz="750" dirty="0"/>
          </a:p>
        </p:txBody>
      </p:sp>
      <p:sp>
        <p:nvSpPr>
          <p:cNvPr id="15" name="Text 10"/>
          <p:cNvSpPr/>
          <p:nvPr/>
        </p:nvSpPr>
        <p:spPr>
          <a:xfrm>
            <a:off x="396835" y="7501771"/>
            <a:ext cx="2305050" cy="185976"/>
          </a:xfrm>
          <a:prstGeom prst="rect">
            <a:avLst/>
          </a:prstGeom>
          <a:noFill/>
          <a:ln/>
        </p:spPr>
        <p:txBody>
          <a:bodyPr wrap="none" lIns="0" tIns="0" rIns="0" bIns="0" rtlCol="0" anchor="t"/>
          <a:lstStyle/>
          <a:p>
            <a:pPr algn="l" indent="0" marL="0">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Understanding Model Performance</a:t>
            </a:r>
            <a:endParaRPr lang="en-US" sz="1150" dirty="0"/>
          </a:p>
        </p:txBody>
      </p:sp>
      <p:sp>
        <p:nvSpPr>
          <p:cNvPr id="16" name="Text 11"/>
          <p:cNvSpPr/>
          <p:nvPr/>
        </p:nvSpPr>
        <p:spPr>
          <a:xfrm>
            <a:off x="396835" y="7786926"/>
            <a:ext cx="750129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Our confusion matrix reveals the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real-world operational characteristics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of the deployed system. With 89 true positive predictions, we successfully flag the vast majority of fraudulent providers for investigation. The 12 false negatives represent sophisticated fraud cases that evade detection—an area for future improvement.</a:t>
            </a:r>
            <a:endParaRPr lang="en-US" sz="750" dirty="0"/>
          </a:p>
        </p:txBody>
      </p:sp>
      <p:sp>
        <p:nvSpPr>
          <p:cNvPr id="17" name="Text 12"/>
          <p:cNvSpPr/>
          <p:nvPr/>
        </p:nvSpPr>
        <p:spPr>
          <a:xfrm>
            <a:off x="396835" y="8193405"/>
            <a:ext cx="750129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The 128 false positives require investigation resources but aren't wasted effort. These high-volume legitimate providers exhibit fraud-like patterns that warrant review. Many false positives represent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legitimate edge cases that benefit from verification</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and the investigation process itself creates a deterrent effect.</a:t>
            </a:r>
            <a:endParaRPr lang="en-US" sz="750" dirty="0"/>
          </a:p>
        </p:txBody>
      </p:sp>
      <p:pic>
        <p:nvPicPr>
          <p:cNvPr id="18" name="Image 3" descr="preencoded.png">    </p:cNvPr>
          <p:cNvPicPr>
            <a:picLocks noChangeAspect="1"/>
          </p:cNvPicPr>
          <p:nvPr/>
        </p:nvPicPr>
        <p:blipFill>
          <a:blip r:embed="rId4"/>
          <a:stretch>
            <a:fillRect/>
          </a:stretch>
        </p:blipFill>
        <p:spPr>
          <a:xfrm>
            <a:off x="8147685" y="843439"/>
            <a:ext cx="6093381" cy="6093381"/>
          </a:xfrm>
          <a:prstGeom prst="rect">
            <a:avLst/>
          </a:prstGeom>
        </p:spPr>
      </p:pic>
      <p:sp>
        <p:nvSpPr>
          <p:cNvPr id="19" name="Shape 13"/>
          <p:cNvSpPr/>
          <p:nvPr/>
        </p:nvSpPr>
        <p:spPr>
          <a:xfrm>
            <a:off x="8147685" y="7048381"/>
            <a:ext cx="6093381" cy="1055727"/>
          </a:xfrm>
          <a:prstGeom prst="roundRect">
            <a:avLst>
              <a:gd name="adj" fmla="val 1410"/>
            </a:avLst>
          </a:prstGeom>
          <a:solidFill>
            <a:srgbClr val="4A022B"/>
          </a:solidFill>
          <a:ln/>
        </p:spPr>
      </p:sp>
      <p:pic>
        <p:nvPicPr>
          <p:cNvPr id="20" name="Image 4" descr="preencoded.png">    </p:cNvPr>
          <p:cNvPicPr>
            <a:picLocks noChangeAspect="1"/>
          </p:cNvPicPr>
          <p:nvPr/>
        </p:nvPicPr>
        <p:blipFill>
          <a:blip r:embed="rId5"/>
          <a:stretch>
            <a:fillRect/>
          </a:stretch>
        </p:blipFill>
        <p:spPr>
          <a:xfrm>
            <a:off x="8246864" y="7192208"/>
            <a:ext cx="123944" cy="99179"/>
          </a:xfrm>
          <a:prstGeom prst="rect">
            <a:avLst/>
          </a:prstGeom>
        </p:spPr>
      </p:pic>
      <p:sp>
        <p:nvSpPr>
          <p:cNvPr id="21" name="Text 14"/>
          <p:cNvSpPr/>
          <p:nvPr/>
        </p:nvSpPr>
        <p:spPr>
          <a:xfrm>
            <a:off x="8469987" y="7172325"/>
            <a:ext cx="5671899" cy="792956"/>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Fira Sans" pitchFamily="34" charset="0"/>
                <a:ea typeface="Fira Sans" pitchFamily="34" charset="-122"/>
                <a:cs typeface="Fira Sans" pitchFamily="34" charset="-120"/>
              </a:rPr>
              <a:t>Confusion Matrix Breakdown:</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True Negatives: 853 legitimate providers correctly classified</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False Positives: 128 legitimate providers flagged for review</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False Negatives: 12 fraudulent providers missed</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True Positives: 89 fraudulent providers correctly identified</a:t>
            </a:r>
            <a:endParaRPr lang="en-US" sz="750" dirty="0"/>
          </a:p>
        </p:txBody>
      </p:sp>
      <p:sp>
        <p:nvSpPr>
          <p:cNvPr id="22" name="Text 15"/>
          <p:cNvSpPr/>
          <p:nvPr/>
        </p:nvSpPr>
        <p:spPr>
          <a:xfrm>
            <a:off x="396835" y="8711446"/>
            <a:ext cx="13836729"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The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59% workload reduction</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represents a transformative efficiency gain for CMS investigators. Instead of reviewing thousands of providers or relying on random sampling, teams can focus on a curated list of 169 high-probability cases. This targeted approach means investigators spend more time prosecuting fraud and less time clearing legitimate providers—exactly the operational improvement Medicare needs.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26626" y="543163"/>
            <a:ext cx="5089208" cy="489466"/>
          </a:xfrm>
          <a:prstGeom prst="rect">
            <a:avLst/>
          </a:prstGeom>
          <a:noFill/>
          <a:ln/>
        </p:spPr>
        <p:txBody>
          <a:bodyPr wrap="none" lIns="0" tIns="0" rIns="0" bIns="0" rtlCol="0" anchor="t"/>
          <a:lstStyle/>
          <a:p>
            <a:pPr algn="l" indent="0" marL="0">
              <a:lnSpc>
                <a:spcPts val="3850"/>
              </a:lnSpc>
              <a:buNone/>
            </a:pPr>
            <a:r>
              <a:rPr lang="en-US" sz="3050" b="1" dirty="0">
                <a:solidFill>
                  <a:srgbClr val="F94CAF"/>
                </a:solidFill>
                <a:latin typeface="Inconsolata Bold" pitchFamily="34" charset="0"/>
                <a:ea typeface="Inconsolata Bold" pitchFamily="34" charset="-122"/>
                <a:cs typeface="Inconsolata Bold" pitchFamily="34" charset="-120"/>
              </a:rPr>
              <a:t>Learning From Model Errors</a:t>
            </a:r>
            <a:endParaRPr lang="en-US" sz="3050" dirty="0"/>
          </a:p>
        </p:txBody>
      </p:sp>
      <p:sp>
        <p:nvSpPr>
          <p:cNvPr id="3" name="Text 1"/>
          <p:cNvSpPr/>
          <p:nvPr/>
        </p:nvSpPr>
        <p:spPr>
          <a:xfrm>
            <a:off x="626626" y="1345883"/>
            <a:ext cx="13377148" cy="501253"/>
          </a:xfrm>
          <a:prstGeom prst="rect">
            <a:avLst/>
          </a:prstGeom>
          <a:noFill/>
          <a:ln/>
        </p:spPr>
        <p:txBody>
          <a:bodyPr wrap="square" lIns="0" tIns="0" rIns="0" bIns="0" rtlCol="0" anchor="t"/>
          <a:lstStyle/>
          <a:p>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Error analysis reveals valuable insights about the </a:t>
            </a:r>
            <a:pPr algn="l" indent="0" marL="0">
              <a:lnSpc>
                <a:spcPts val="1950"/>
              </a:lnSpc>
              <a:buNone/>
            </a:pPr>
            <a:r>
              <a:rPr lang="en-US" sz="1200" b="1" dirty="0">
                <a:solidFill>
                  <a:srgbClr val="DAD1E6"/>
                </a:solidFill>
                <a:latin typeface="Fira Sans" pitchFamily="34" charset="0"/>
                <a:ea typeface="Fira Sans" pitchFamily="34" charset="-122"/>
                <a:cs typeface="Fira Sans" pitchFamily="34" charset="-120"/>
              </a:rPr>
              <a:t>limitations of volume-based fraud detection</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and opportunities for model refinement. By examining both false positives and false negatives, we can understand where our current approach struggles and how future iterations can improve.</a:t>
            </a:r>
            <a:endParaRPr lang="en-US" sz="1200" dirty="0"/>
          </a:p>
        </p:txBody>
      </p:sp>
      <p:sp>
        <p:nvSpPr>
          <p:cNvPr id="4" name="Text 2"/>
          <p:cNvSpPr/>
          <p:nvPr/>
        </p:nvSpPr>
        <p:spPr>
          <a:xfrm>
            <a:off x="626626" y="2179915"/>
            <a:ext cx="3641169" cy="293727"/>
          </a:xfrm>
          <a:prstGeom prst="rect">
            <a:avLst/>
          </a:prstGeom>
          <a:noFill/>
          <a:ln/>
        </p:spPr>
        <p:txBody>
          <a:bodyPr wrap="none" lIns="0" tIns="0" rIns="0" bIns="0" rtlCol="0" anchor="t"/>
          <a:lstStyle/>
          <a:p>
            <a:pPr algn="l" indent="0" marL="0">
              <a:lnSpc>
                <a:spcPts val="2300"/>
              </a:lnSpc>
              <a:buNone/>
            </a:pPr>
            <a:r>
              <a:rPr lang="en-US" sz="1850" b="1" dirty="0">
                <a:solidFill>
                  <a:srgbClr val="F94CAF"/>
                </a:solidFill>
                <a:latin typeface="Inconsolata Bold" pitchFamily="34" charset="0"/>
                <a:ea typeface="Inconsolata Bold" pitchFamily="34" charset="-122"/>
                <a:cs typeface="Inconsolata Bold" pitchFamily="34" charset="-120"/>
              </a:rPr>
              <a:t>False Positives: Volume ≠ Fraud</a:t>
            </a:r>
            <a:endParaRPr lang="en-US" sz="1850" dirty="0"/>
          </a:p>
        </p:txBody>
      </p:sp>
      <p:sp>
        <p:nvSpPr>
          <p:cNvPr id="5" name="Text 3"/>
          <p:cNvSpPr/>
          <p:nvPr/>
        </p:nvSpPr>
        <p:spPr>
          <a:xfrm>
            <a:off x="626626" y="2630210"/>
            <a:ext cx="6497479" cy="1002506"/>
          </a:xfrm>
          <a:prstGeom prst="rect">
            <a:avLst/>
          </a:prstGeom>
          <a:noFill/>
          <a:ln/>
        </p:spPr>
        <p:txBody>
          <a:bodyPr wrap="square" lIns="0" tIns="0" rIns="0" bIns="0" rtlCol="0" anchor="t"/>
          <a:lstStyle/>
          <a:p>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Our model flags </a:t>
            </a:r>
            <a:pPr algn="l" indent="0" marL="0">
              <a:lnSpc>
                <a:spcPts val="1950"/>
              </a:lnSpc>
              <a:buNone/>
            </a:pPr>
            <a:r>
              <a:rPr lang="en-US" sz="1200" b="1" dirty="0">
                <a:solidFill>
                  <a:srgbClr val="DAD1E6"/>
                </a:solidFill>
                <a:latin typeface="Fira Sans" pitchFamily="34" charset="0"/>
                <a:ea typeface="Fira Sans" pitchFamily="34" charset="-122"/>
                <a:cs typeface="Fira Sans" pitchFamily="34" charset="-120"/>
              </a:rPr>
              <a:t>128 legitimate providers</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that exhibit high-volume characteristics similar to fraudulent operations. These providers typically bill between $688K and $1.3M annually—significantly above average but justified by their large patient populations and complex service mix.</a:t>
            </a:r>
            <a:endParaRPr lang="en-US" sz="1200" dirty="0"/>
          </a:p>
        </p:txBody>
      </p:sp>
      <p:sp>
        <p:nvSpPr>
          <p:cNvPr id="6" name="Text 4"/>
          <p:cNvSpPr/>
          <p:nvPr/>
        </p:nvSpPr>
        <p:spPr>
          <a:xfrm>
            <a:off x="626626" y="3773686"/>
            <a:ext cx="6497479" cy="1253133"/>
          </a:xfrm>
          <a:prstGeom prst="rect">
            <a:avLst/>
          </a:prstGeom>
          <a:noFill/>
          <a:ln/>
        </p:spPr>
        <p:txBody>
          <a:bodyPr wrap="square" lIns="0" tIns="0" rIns="0" bIns="0" rtlCol="0" anchor="t"/>
          <a:lstStyle/>
          <a:p>
            <a:pPr algn="l" indent="0" marL="0">
              <a:lnSpc>
                <a:spcPts val="1950"/>
              </a:lnSpc>
              <a:buNone/>
            </a:pPr>
            <a:r>
              <a:rPr lang="en-US" sz="1200" b="1" dirty="0">
                <a:solidFill>
                  <a:srgbClr val="DAD1E6"/>
                </a:solidFill>
                <a:latin typeface="Fira Sans" pitchFamily="34" charset="0"/>
                <a:ea typeface="Fira Sans" pitchFamily="34" charset="-122"/>
                <a:cs typeface="Fira Sans" pitchFamily="34" charset="-120"/>
              </a:rPr>
              <a:t>The key distinction:</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These legitimate high-volume providers show </a:t>
            </a:r>
            <a:pPr algn="l" indent="0" marL="0">
              <a:lnSpc>
                <a:spcPts val="1950"/>
              </a:lnSpc>
              <a:buNone/>
            </a:pPr>
            <a:r>
              <a:rPr lang="en-US" sz="1200" u="sng" dirty="0">
                <a:solidFill>
                  <a:srgbClr val="DAD1E6"/>
                </a:solidFill>
                <a:latin typeface="Fira Sans" pitchFamily="34" charset="0"/>
                <a:ea typeface="Fira Sans" pitchFamily="34" charset="-122"/>
                <a:cs typeface="Fira Sans" pitchFamily="34" charset="-120"/>
              </a:rPr>
              <a:t>normal billing per claim</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and appropriate service distributions. Their high total billings result from serving many patients with standard care, not from systematic overbilling schemes. For example, a large urban hospital might serve 500+ patients with average claim amounts, while a fraudulent provider serves 250 patients with inflated claim values.</a:t>
            </a:r>
            <a:endParaRPr lang="en-US" sz="1200" dirty="0"/>
          </a:p>
        </p:txBody>
      </p:sp>
      <p:sp>
        <p:nvSpPr>
          <p:cNvPr id="7" name="Text 5"/>
          <p:cNvSpPr/>
          <p:nvPr/>
        </p:nvSpPr>
        <p:spPr>
          <a:xfrm>
            <a:off x="626626" y="5167789"/>
            <a:ext cx="6497479" cy="501253"/>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highlight>
                  <a:srgbClr val="F94CAF"/>
                </a:highlight>
                <a:latin typeface="Fira Sans" pitchFamily="34" charset="0"/>
                <a:ea typeface="Fira Sans" pitchFamily="34" charset="-122"/>
                <a:cs typeface="Fira Sans" pitchFamily="34" charset="-120"/>
              </a:rPr>
              <a:t>Future improvement:</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Incorporate billing intensity ratios (total billing ÷ patient count ÷ claims) to better distinguish legitimate scale from fraudulent inflation.</a:t>
            </a:r>
            <a:endParaRPr lang="en-US" sz="1200" dirty="0"/>
          </a:p>
        </p:txBody>
      </p:sp>
      <p:sp>
        <p:nvSpPr>
          <p:cNvPr id="8" name="Text 6"/>
          <p:cNvSpPr/>
          <p:nvPr/>
        </p:nvSpPr>
        <p:spPr>
          <a:xfrm>
            <a:off x="7513915" y="2179915"/>
            <a:ext cx="4580811" cy="293727"/>
          </a:xfrm>
          <a:prstGeom prst="rect">
            <a:avLst/>
          </a:prstGeom>
          <a:noFill/>
          <a:ln/>
        </p:spPr>
        <p:txBody>
          <a:bodyPr wrap="none" lIns="0" tIns="0" rIns="0" bIns="0" rtlCol="0" anchor="t"/>
          <a:lstStyle/>
          <a:p>
            <a:pPr algn="l" indent="0" marL="0">
              <a:lnSpc>
                <a:spcPts val="2300"/>
              </a:lnSpc>
              <a:buNone/>
            </a:pPr>
            <a:r>
              <a:rPr lang="en-US" sz="1850" b="1" dirty="0">
                <a:solidFill>
                  <a:srgbClr val="F94CAF"/>
                </a:solidFill>
                <a:latin typeface="Inconsolata Bold" pitchFamily="34" charset="0"/>
                <a:ea typeface="Inconsolata Bold" pitchFamily="34" charset="-122"/>
                <a:cs typeface="Inconsolata Bold" pitchFamily="34" charset="-120"/>
              </a:rPr>
              <a:t>False Negatives: Flying Under the Radar</a:t>
            </a:r>
            <a:endParaRPr lang="en-US" sz="1850" dirty="0"/>
          </a:p>
        </p:txBody>
      </p:sp>
      <p:sp>
        <p:nvSpPr>
          <p:cNvPr id="9" name="Text 7"/>
          <p:cNvSpPr/>
          <p:nvPr/>
        </p:nvSpPr>
        <p:spPr>
          <a:xfrm>
            <a:off x="7513915" y="2630210"/>
            <a:ext cx="6497479" cy="1002506"/>
          </a:xfrm>
          <a:prstGeom prst="rect">
            <a:avLst/>
          </a:prstGeom>
          <a:noFill/>
          <a:ln/>
        </p:spPr>
        <p:txBody>
          <a:bodyPr wrap="square" lIns="0" tIns="0" rIns="0" bIns="0" rtlCol="0" anchor="t"/>
          <a:lstStyle/>
          <a:p>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We miss </a:t>
            </a:r>
            <a:pPr algn="l" indent="0" marL="0">
              <a:lnSpc>
                <a:spcPts val="1950"/>
              </a:lnSpc>
              <a:buNone/>
            </a:pPr>
            <a:r>
              <a:rPr lang="en-US" sz="1200" b="1" dirty="0">
                <a:solidFill>
                  <a:srgbClr val="DAD1E6"/>
                </a:solidFill>
                <a:latin typeface="Fira Sans" pitchFamily="34" charset="0"/>
                <a:ea typeface="Fira Sans" pitchFamily="34" charset="-122"/>
                <a:cs typeface="Fira Sans" pitchFamily="34" charset="-120"/>
              </a:rPr>
              <a:t>12 fraudulent providers</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who operate at lower volumes ($20K-$58K total billing) designed to evade automated detection systems. These sophisticated actors understand that Medicare's historical focus on high-dollar cases creates an opportunity for low-volume fraud that accumulates across many providers.</a:t>
            </a:r>
            <a:endParaRPr lang="en-US" sz="1200" dirty="0"/>
          </a:p>
        </p:txBody>
      </p:sp>
      <p:sp>
        <p:nvSpPr>
          <p:cNvPr id="10" name="Text 8"/>
          <p:cNvSpPr/>
          <p:nvPr/>
        </p:nvSpPr>
        <p:spPr>
          <a:xfrm>
            <a:off x="7513915" y="3773686"/>
            <a:ext cx="6497479" cy="1002506"/>
          </a:xfrm>
          <a:prstGeom prst="rect">
            <a:avLst/>
          </a:prstGeom>
          <a:noFill/>
          <a:ln/>
        </p:spPr>
        <p:txBody>
          <a:bodyPr wrap="square" lIns="0" tIns="0" rIns="0" bIns="0" rtlCol="0" anchor="t"/>
          <a:lstStyle/>
          <a:p>
            <a:pPr algn="l" indent="0" marL="0">
              <a:lnSpc>
                <a:spcPts val="1950"/>
              </a:lnSpc>
              <a:buNone/>
            </a:pPr>
            <a:r>
              <a:rPr lang="en-US" sz="1200" b="1" dirty="0">
                <a:solidFill>
                  <a:srgbClr val="DAD1E6"/>
                </a:solidFill>
                <a:latin typeface="Fira Sans" pitchFamily="34" charset="0"/>
                <a:ea typeface="Fira Sans" pitchFamily="34" charset="-122"/>
                <a:cs typeface="Fira Sans" pitchFamily="34" charset="-120"/>
              </a:rPr>
              <a:t>The challenge:</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These cases may involve a smaller number of highly inflated claims, inappropriate billing codes, or services to recruited beneficiaries—schemes that our volume-focused features don't adequately capture. A provider billing $50K through 30 entirely fake claims is fraudulent but appears legitimate in aggregate statistics.</a:t>
            </a:r>
            <a:endParaRPr lang="en-US" sz="1200" dirty="0"/>
          </a:p>
        </p:txBody>
      </p:sp>
      <p:sp>
        <p:nvSpPr>
          <p:cNvPr id="11" name="Text 9"/>
          <p:cNvSpPr/>
          <p:nvPr/>
        </p:nvSpPr>
        <p:spPr>
          <a:xfrm>
            <a:off x="7513915" y="4917162"/>
            <a:ext cx="6497479" cy="751880"/>
          </a:xfrm>
          <a:prstGeom prst="rect">
            <a:avLst/>
          </a:prstGeom>
          <a:noFill/>
          <a:ln/>
        </p:spPr>
        <p:txBody>
          <a:bodyPr wrap="square" lIns="0" tIns="0" rIns="0" bIns="0" rtlCol="0" anchor="t"/>
          <a:lstStyle/>
          <a:p>
            <a:pPr algn="l" indent="0" marL="0">
              <a:lnSpc>
                <a:spcPts val="1950"/>
              </a:lnSpc>
              <a:buNone/>
            </a:pPr>
            <a:r>
              <a:rPr lang="en-US" sz="1200" dirty="0">
                <a:solidFill>
                  <a:srgbClr val="000000"/>
                </a:solidFill>
                <a:highlight>
                  <a:srgbClr val="F94CAF"/>
                </a:highlight>
                <a:latin typeface="Fira Sans" pitchFamily="34" charset="0"/>
                <a:ea typeface="Fira Sans" pitchFamily="34" charset="-122"/>
                <a:cs typeface="Fira Sans" pitchFamily="34" charset="-120"/>
              </a:rPr>
              <a:t>Future improvement:</a:t>
            </a:r>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 Add outlier detection for individual claim amounts, diagnosis-procedure code relationships, and patient travel distance patterns to catch anomalous behaviors regardless of volume.</a:t>
            </a:r>
            <a:endParaRPr lang="en-US" sz="1200" dirty="0"/>
          </a:p>
        </p:txBody>
      </p:sp>
      <p:sp>
        <p:nvSpPr>
          <p:cNvPr id="12" name="Shape 10"/>
          <p:cNvSpPr/>
          <p:nvPr/>
        </p:nvSpPr>
        <p:spPr>
          <a:xfrm>
            <a:off x="626626" y="5986224"/>
            <a:ext cx="6610231" cy="1700093"/>
          </a:xfrm>
          <a:prstGeom prst="roundRect">
            <a:avLst>
              <a:gd name="adj" fmla="val 6454"/>
            </a:avLst>
          </a:prstGeom>
          <a:solidFill>
            <a:srgbClr val="241631"/>
          </a:solidFill>
          <a:ln w="22860">
            <a:solidFill>
              <a:srgbClr val="5C4E69"/>
            </a:solidFill>
            <a:prstDash val="solid"/>
          </a:ln>
        </p:spPr>
      </p:sp>
      <p:pic>
        <p:nvPicPr>
          <p:cNvPr id="13" name="Image 0" descr="preencoded.png">    </p:cNvPr>
          <p:cNvPicPr>
            <a:picLocks noChangeAspect="1"/>
          </p:cNvPicPr>
          <p:nvPr/>
        </p:nvPicPr>
        <p:blipFill>
          <a:blip r:embed="rId1"/>
          <a:stretch>
            <a:fillRect/>
          </a:stretch>
        </p:blipFill>
        <p:spPr>
          <a:xfrm>
            <a:off x="603766" y="5986224"/>
            <a:ext cx="91440" cy="1700093"/>
          </a:xfrm>
          <a:prstGeom prst="rect">
            <a:avLst/>
          </a:prstGeom>
        </p:spPr>
      </p:pic>
      <p:sp>
        <p:nvSpPr>
          <p:cNvPr id="14" name="Text 11"/>
          <p:cNvSpPr/>
          <p:nvPr/>
        </p:nvSpPr>
        <p:spPr>
          <a:xfrm>
            <a:off x="874633" y="6165652"/>
            <a:ext cx="2446734" cy="244793"/>
          </a:xfrm>
          <a:prstGeom prst="rect">
            <a:avLst/>
          </a:prstGeom>
          <a:noFill/>
          <a:ln/>
        </p:spPr>
        <p:txBody>
          <a:bodyPr wrap="none" lIns="0" tIns="0" rIns="0" bIns="0" rtlCol="0" anchor="t"/>
          <a:lstStyle/>
          <a:p>
            <a:pPr algn="l" indent="0" marL="0">
              <a:lnSpc>
                <a:spcPts val="1900"/>
              </a:lnSpc>
              <a:buNone/>
            </a:pPr>
            <a:r>
              <a:rPr lang="en-US" sz="1500" b="1" dirty="0">
                <a:solidFill>
                  <a:srgbClr val="DAD1E6"/>
                </a:solidFill>
                <a:latin typeface="Inconsolata Bold" pitchFamily="34" charset="0"/>
                <a:ea typeface="Inconsolata Bold" pitchFamily="34" charset="-122"/>
                <a:cs typeface="Inconsolata Bold" pitchFamily="34" charset="-120"/>
              </a:rPr>
              <a:t>Error Pattern Recognition</a:t>
            </a:r>
            <a:endParaRPr lang="en-US" sz="1500" dirty="0"/>
          </a:p>
        </p:txBody>
      </p:sp>
      <p:sp>
        <p:nvSpPr>
          <p:cNvPr id="15" name="Text 12"/>
          <p:cNvSpPr/>
          <p:nvPr/>
        </p:nvSpPr>
        <p:spPr>
          <a:xfrm>
            <a:off x="874633" y="6504384"/>
            <a:ext cx="6182797" cy="1002506"/>
          </a:xfrm>
          <a:prstGeom prst="rect">
            <a:avLst/>
          </a:prstGeom>
          <a:noFill/>
          <a:ln/>
        </p:spPr>
        <p:txBody>
          <a:bodyPr wrap="square" lIns="0" tIns="0" rIns="0" bIns="0" rtlCol="0" anchor="t"/>
          <a:lstStyle/>
          <a:p>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Our false positives cluster in predictable categories: large multi-specialty practices, hospital systems serving diverse populations, and providers in high-cost geographic regions. This consistency suggests we can develop secondary screening rules to automatically clear certain false positive types.</a:t>
            </a:r>
            <a:endParaRPr lang="en-US" sz="1200" dirty="0"/>
          </a:p>
        </p:txBody>
      </p:sp>
      <p:sp>
        <p:nvSpPr>
          <p:cNvPr id="16" name="Shape 13"/>
          <p:cNvSpPr/>
          <p:nvPr/>
        </p:nvSpPr>
        <p:spPr>
          <a:xfrm>
            <a:off x="7393424" y="5986224"/>
            <a:ext cx="6610350" cy="1700093"/>
          </a:xfrm>
          <a:prstGeom prst="roundRect">
            <a:avLst>
              <a:gd name="adj" fmla="val 6454"/>
            </a:avLst>
          </a:prstGeom>
          <a:solidFill>
            <a:srgbClr val="241631"/>
          </a:solidFill>
          <a:ln w="22860">
            <a:solidFill>
              <a:srgbClr val="5C4E69"/>
            </a:solidFill>
            <a:prstDash val="solid"/>
          </a:ln>
        </p:spPr>
      </p:sp>
      <p:pic>
        <p:nvPicPr>
          <p:cNvPr id="17" name="Image 1" descr="preencoded.png">    </p:cNvPr>
          <p:cNvPicPr>
            <a:picLocks noChangeAspect="1"/>
          </p:cNvPicPr>
          <p:nvPr/>
        </p:nvPicPr>
        <p:blipFill>
          <a:blip r:embed="rId2"/>
          <a:stretch>
            <a:fillRect/>
          </a:stretch>
        </p:blipFill>
        <p:spPr>
          <a:xfrm>
            <a:off x="7370564" y="5986224"/>
            <a:ext cx="91440" cy="1700093"/>
          </a:xfrm>
          <a:prstGeom prst="rect">
            <a:avLst/>
          </a:prstGeom>
        </p:spPr>
      </p:pic>
      <p:sp>
        <p:nvSpPr>
          <p:cNvPr id="18" name="Text 14"/>
          <p:cNvSpPr/>
          <p:nvPr/>
        </p:nvSpPr>
        <p:spPr>
          <a:xfrm>
            <a:off x="7641431" y="6165652"/>
            <a:ext cx="3033951" cy="244793"/>
          </a:xfrm>
          <a:prstGeom prst="rect">
            <a:avLst/>
          </a:prstGeom>
          <a:noFill/>
          <a:ln/>
        </p:spPr>
        <p:txBody>
          <a:bodyPr wrap="none" lIns="0" tIns="0" rIns="0" bIns="0" rtlCol="0" anchor="t"/>
          <a:lstStyle/>
          <a:p>
            <a:pPr algn="l" indent="0" marL="0">
              <a:lnSpc>
                <a:spcPts val="1900"/>
              </a:lnSpc>
              <a:buNone/>
            </a:pPr>
            <a:r>
              <a:rPr lang="en-US" sz="1500" b="1" dirty="0">
                <a:solidFill>
                  <a:srgbClr val="DAD1E6"/>
                </a:solidFill>
                <a:latin typeface="Inconsolata Bold" pitchFamily="34" charset="0"/>
                <a:ea typeface="Inconsolata Bold" pitchFamily="34" charset="-122"/>
                <a:cs typeface="Inconsolata Bold" pitchFamily="34" charset="-120"/>
              </a:rPr>
              <a:t>Continuous Learning Opportunity</a:t>
            </a:r>
            <a:endParaRPr lang="en-US" sz="1500" dirty="0"/>
          </a:p>
        </p:txBody>
      </p:sp>
      <p:sp>
        <p:nvSpPr>
          <p:cNvPr id="19" name="Text 15"/>
          <p:cNvSpPr/>
          <p:nvPr/>
        </p:nvSpPr>
        <p:spPr>
          <a:xfrm>
            <a:off x="7641431" y="6504384"/>
            <a:ext cx="6182916" cy="1002506"/>
          </a:xfrm>
          <a:prstGeom prst="rect">
            <a:avLst/>
          </a:prstGeom>
          <a:noFill/>
          <a:ln/>
        </p:spPr>
        <p:txBody>
          <a:bodyPr wrap="square" lIns="0" tIns="0" rIns="0" bIns="0" rtlCol="0" anchor="t"/>
          <a:lstStyle/>
          <a:p>
            <a:pPr algn="l" indent="0" marL="0">
              <a:lnSpc>
                <a:spcPts val="1950"/>
              </a:lnSpc>
              <a:buNone/>
            </a:pPr>
            <a:r>
              <a:rPr lang="en-US" sz="1200" dirty="0">
                <a:solidFill>
                  <a:srgbClr val="DAD1E6"/>
                </a:solidFill>
                <a:latin typeface="Fira Sans" pitchFamily="34" charset="0"/>
                <a:ea typeface="Fira Sans" pitchFamily="34" charset="-122"/>
                <a:cs typeface="Fira Sans" pitchFamily="34" charset="-120"/>
              </a:rPr>
              <a:t>Each investigated case—whether confirmed fraud or cleared—provides valuable feedback for model refinement. Establishing a systematic feedback loop where investigator findings update our training data enables continuous improvement of detection accuracy over time.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6835" y="272891"/>
            <a:ext cx="3224093" cy="310158"/>
          </a:xfrm>
          <a:prstGeom prst="rect">
            <a:avLst/>
          </a:prstGeom>
          <a:noFill/>
          <a:ln/>
        </p:spPr>
        <p:txBody>
          <a:bodyPr wrap="none" lIns="0" tIns="0" rIns="0" bIns="0" rtlCol="0" anchor="t"/>
          <a:lstStyle/>
          <a:p>
            <a:pPr algn="l" indent="0" marL="0">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Quantifying Business Value</a:t>
            </a:r>
            <a:endParaRPr lang="en-US" sz="1950" dirty="0"/>
          </a:p>
        </p:txBody>
      </p:sp>
      <p:sp>
        <p:nvSpPr>
          <p:cNvPr id="3" name="Text 1"/>
          <p:cNvSpPr/>
          <p:nvPr/>
        </p:nvSpPr>
        <p:spPr>
          <a:xfrm>
            <a:off x="396835" y="781407"/>
            <a:ext cx="13836729" cy="158591"/>
          </a:xfrm>
          <a:prstGeom prst="rect">
            <a:avLst/>
          </a:prstGeom>
          <a:noFill/>
          <a:ln/>
        </p:spPr>
        <p:txBody>
          <a:bodyPr wrap="non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The true measure of our model's success lies in its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real-world financial impact on Medicare operations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By translating technical performance metrics into concrete dollar figures and efficiency gains, we demonstrate compelling ROI for CMS stakeholders.</a:t>
            </a:r>
            <a:endParaRPr lang="en-US" sz="750" dirty="0"/>
          </a:p>
        </p:txBody>
      </p:sp>
      <p:sp>
        <p:nvSpPr>
          <p:cNvPr id="4" name="Shape 2"/>
          <p:cNvSpPr/>
          <p:nvPr/>
        </p:nvSpPr>
        <p:spPr>
          <a:xfrm>
            <a:off x="396835" y="1980128"/>
            <a:ext cx="13836729" cy="15240"/>
          </a:xfrm>
          <a:prstGeom prst="roundRect">
            <a:avLst>
              <a:gd name="adj" fmla="val 97675"/>
            </a:avLst>
          </a:prstGeom>
          <a:solidFill>
            <a:srgbClr val="5C4E69"/>
          </a:solidFill>
          <a:ln/>
        </p:spPr>
      </p:sp>
      <p:sp>
        <p:nvSpPr>
          <p:cNvPr id="5" name="Shape 3"/>
          <p:cNvSpPr/>
          <p:nvPr/>
        </p:nvSpPr>
        <p:spPr>
          <a:xfrm>
            <a:off x="3119199" y="1682532"/>
            <a:ext cx="15240" cy="297656"/>
          </a:xfrm>
          <a:prstGeom prst="roundRect">
            <a:avLst>
              <a:gd name="adj" fmla="val 97675"/>
            </a:avLst>
          </a:prstGeom>
          <a:solidFill>
            <a:srgbClr val="5C4E69"/>
          </a:solidFill>
          <a:ln/>
        </p:spPr>
      </p:sp>
      <p:sp>
        <p:nvSpPr>
          <p:cNvPr id="6" name="Shape 4"/>
          <p:cNvSpPr/>
          <p:nvPr/>
        </p:nvSpPr>
        <p:spPr>
          <a:xfrm>
            <a:off x="3015258" y="1868507"/>
            <a:ext cx="223242" cy="223242"/>
          </a:xfrm>
          <a:prstGeom prst="roundRect">
            <a:avLst>
              <a:gd name="adj" fmla="val 6668"/>
            </a:avLst>
          </a:prstGeom>
          <a:solidFill>
            <a:srgbClr val="433550"/>
          </a:solidFill>
          <a:ln/>
        </p:spPr>
      </p:sp>
      <p:sp>
        <p:nvSpPr>
          <p:cNvPr id="7" name="Text 5"/>
          <p:cNvSpPr/>
          <p:nvPr/>
        </p:nvSpPr>
        <p:spPr>
          <a:xfrm>
            <a:off x="3052405" y="1887081"/>
            <a:ext cx="148828" cy="185976"/>
          </a:xfrm>
          <a:prstGeom prst="rect">
            <a:avLst/>
          </a:prstGeom>
          <a:noFill/>
          <a:ln/>
        </p:spPr>
        <p:txBody>
          <a:bodyPr wrap="none" lIns="0" tIns="0" rIns="0" bIns="0" rtlCol="0" anchor="t"/>
          <a:lstStyle/>
          <a:p>
            <a:pPr algn="ctr" indent="0" marL="0">
              <a:lnSpc>
                <a:spcPts val="1150"/>
              </a:lnSpc>
              <a:buNone/>
            </a:pPr>
            <a:r>
              <a:rPr lang="en-US" sz="1150" b="1" dirty="0">
                <a:solidFill>
                  <a:srgbClr val="DAD1E6"/>
                </a:solidFill>
                <a:latin typeface="Inconsolata Bold" pitchFamily="34" charset="0"/>
                <a:ea typeface="Inconsolata Bold" pitchFamily="34" charset="-122"/>
                <a:cs typeface="Inconsolata Bold" pitchFamily="34" charset="-120"/>
              </a:rPr>
              <a:t>1</a:t>
            </a:r>
            <a:endParaRPr lang="en-US" sz="1150" dirty="0"/>
          </a:p>
        </p:txBody>
      </p:sp>
      <p:sp>
        <p:nvSpPr>
          <p:cNvPr id="8" name="Text 6"/>
          <p:cNvSpPr/>
          <p:nvPr/>
        </p:nvSpPr>
        <p:spPr>
          <a:xfrm>
            <a:off x="2506742" y="1051560"/>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Current State</a:t>
            </a:r>
            <a:endParaRPr lang="en-US" sz="950" dirty="0"/>
          </a:p>
        </p:txBody>
      </p:sp>
      <p:sp>
        <p:nvSpPr>
          <p:cNvPr id="9" name="Text 7"/>
          <p:cNvSpPr/>
          <p:nvPr/>
        </p:nvSpPr>
        <p:spPr>
          <a:xfrm>
            <a:off x="496014" y="1266111"/>
            <a:ext cx="5261967" cy="317183"/>
          </a:xfrm>
          <a:prstGeom prst="rect">
            <a:avLst/>
          </a:prstGeom>
          <a:noFill/>
          <a:ln/>
        </p:spPr>
        <p:txBody>
          <a:bodyPr wrap="squar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Investigators review random samples or follow tips, catching small percentage of fraud. Limited resources spread thin across 5,410 providers.</a:t>
            </a:r>
            <a:endParaRPr lang="en-US" sz="750" dirty="0"/>
          </a:p>
        </p:txBody>
      </p:sp>
      <p:sp>
        <p:nvSpPr>
          <p:cNvPr id="10" name="Shape 8"/>
          <p:cNvSpPr/>
          <p:nvPr/>
        </p:nvSpPr>
        <p:spPr>
          <a:xfrm>
            <a:off x="5911334" y="1980069"/>
            <a:ext cx="15240" cy="297656"/>
          </a:xfrm>
          <a:prstGeom prst="roundRect">
            <a:avLst>
              <a:gd name="adj" fmla="val 97675"/>
            </a:avLst>
          </a:prstGeom>
          <a:solidFill>
            <a:srgbClr val="5C4E69"/>
          </a:solidFill>
          <a:ln/>
        </p:spPr>
      </p:sp>
      <p:sp>
        <p:nvSpPr>
          <p:cNvPr id="11" name="Shape 9"/>
          <p:cNvSpPr/>
          <p:nvPr/>
        </p:nvSpPr>
        <p:spPr>
          <a:xfrm>
            <a:off x="5807393" y="1868507"/>
            <a:ext cx="223242" cy="223242"/>
          </a:xfrm>
          <a:prstGeom prst="roundRect">
            <a:avLst>
              <a:gd name="adj" fmla="val 6668"/>
            </a:avLst>
          </a:prstGeom>
          <a:solidFill>
            <a:srgbClr val="433550"/>
          </a:solidFill>
          <a:ln/>
        </p:spPr>
      </p:sp>
      <p:sp>
        <p:nvSpPr>
          <p:cNvPr id="12" name="Text 10"/>
          <p:cNvSpPr/>
          <p:nvPr/>
        </p:nvSpPr>
        <p:spPr>
          <a:xfrm>
            <a:off x="5844540" y="1887081"/>
            <a:ext cx="148828" cy="185976"/>
          </a:xfrm>
          <a:prstGeom prst="rect">
            <a:avLst/>
          </a:prstGeom>
          <a:noFill/>
          <a:ln/>
        </p:spPr>
        <p:txBody>
          <a:bodyPr wrap="none" lIns="0" tIns="0" rIns="0" bIns="0" rtlCol="0" anchor="t"/>
          <a:lstStyle/>
          <a:p>
            <a:pPr algn="ctr" indent="0" marL="0">
              <a:lnSpc>
                <a:spcPts val="1150"/>
              </a:lnSpc>
              <a:buNone/>
            </a:pPr>
            <a:r>
              <a:rPr lang="en-US" sz="1150" b="1" dirty="0">
                <a:solidFill>
                  <a:srgbClr val="DAD1E6"/>
                </a:solidFill>
                <a:latin typeface="Inconsolata Bold" pitchFamily="34" charset="0"/>
                <a:ea typeface="Inconsolata Bold" pitchFamily="34" charset="-122"/>
                <a:cs typeface="Inconsolata Bold" pitchFamily="34" charset="-120"/>
              </a:rPr>
              <a:t>2</a:t>
            </a:r>
            <a:endParaRPr lang="en-US" sz="1150" dirty="0"/>
          </a:p>
        </p:txBody>
      </p:sp>
      <p:sp>
        <p:nvSpPr>
          <p:cNvPr id="13" name="Text 11"/>
          <p:cNvSpPr/>
          <p:nvPr/>
        </p:nvSpPr>
        <p:spPr>
          <a:xfrm>
            <a:off x="5144453" y="2376964"/>
            <a:ext cx="1549360"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ML-Enhanced Investigation</a:t>
            </a:r>
            <a:endParaRPr lang="en-US" sz="950" dirty="0"/>
          </a:p>
        </p:txBody>
      </p:sp>
      <p:sp>
        <p:nvSpPr>
          <p:cNvPr id="14" name="Text 12"/>
          <p:cNvSpPr/>
          <p:nvPr/>
        </p:nvSpPr>
        <p:spPr>
          <a:xfrm>
            <a:off x="3288149" y="2591514"/>
            <a:ext cx="5261967" cy="317183"/>
          </a:xfrm>
          <a:prstGeom prst="rect">
            <a:avLst/>
          </a:prstGeom>
          <a:noFill/>
          <a:ln/>
        </p:spPr>
        <p:txBody>
          <a:bodyPr wrap="squar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Model flags 169 high-risk providers based on behavioral patterns. Investigators focus exclusively on algorithmically-prioritized cases.</a:t>
            </a:r>
            <a:endParaRPr lang="en-US" sz="750" dirty="0"/>
          </a:p>
        </p:txBody>
      </p:sp>
      <p:sp>
        <p:nvSpPr>
          <p:cNvPr id="15" name="Shape 13"/>
          <p:cNvSpPr/>
          <p:nvPr/>
        </p:nvSpPr>
        <p:spPr>
          <a:xfrm>
            <a:off x="8703469" y="1682532"/>
            <a:ext cx="15240" cy="297656"/>
          </a:xfrm>
          <a:prstGeom prst="roundRect">
            <a:avLst>
              <a:gd name="adj" fmla="val 97675"/>
            </a:avLst>
          </a:prstGeom>
          <a:solidFill>
            <a:srgbClr val="5C4E69"/>
          </a:solidFill>
          <a:ln/>
        </p:spPr>
      </p:sp>
      <p:sp>
        <p:nvSpPr>
          <p:cNvPr id="16" name="Shape 14"/>
          <p:cNvSpPr/>
          <p:nvPr/>
        </p:nvSpPr>
        <p:spPr>
          <a:xfrm>
            <a:off x="8599527" y="1868507"/>
            <a:ext cx="223242" cy="223242"/>
          </a:xfrm>
          <a:prstGeom prst="roundRect">
            <a:avLst>
              <a:gd name="adj" fmla="val 6668"/>
            </a:avLst>
          </a:prstGeom>
          <a:solidFill>
            <a:srgbClr val="433550"/>
          </a:solidFill>
          <a:ln/>
        </p:spPr>
      </p:sp>
      <p:sp>
        <p:nvSpPr>
          <p:cNvPr id="17" name="Text 15"/>
          <p:cNvSpPr/>
          <p:nvPr/>
        </p:nvSpPr>
        <p:spPr>
          <a:xfrm>
            <a:off x="8636675" y="1887081"/>
            <a:ext cx="148828" cy="185976"/>
          </a:xfrm>
          <a:prstGeom prst="rect">
            <a:avLst/>
          </a:prstGeom>
          <a:noFill/>
          <a:ln/>
        </p:spPr>
        <p:txBody>
          <a:bodyPr wrap="none" lIns="0" tIns="0" rIns="0" bIns="0" rtlCol="0" anchor="t"/>
          <a:lstStyle/>
          <a:p>
            <a:pPr algn="ctr" indent="0" marL="0">
              <a:lnSpc>
                <a:spcPts val="1150"/>
              </a:lnSpc>
              <a:buNone/>
            </a:pPr>
            <a:r>
              <a:rPr lang="en-US" sz="1150" b="1" dirty="0">
                <a:solidFill>
                  <a:srgbClr val="DAD1E6"/>
                </a:solidFill>
                <a:latin typeface="Inconsolata Bold" pitchFamily="34" charset="0"/>
                <a:ea typeface="Inconsolata Bold" pitchFamily="34" charset="-122"/>
                <a:cs typeface="Inconsolata Bold" pitchFamily="34" charset="-120"/>
              </a:rPr>
              <a:t>3</a:t>
            </a:r>
            <a:endParaRPr lang="en-US" sz="1150" dirty="0"/>
          </a:p>
        </p:txBody>
      </p:sp>
      <p:sp>
        <p:nvSpPr>
          <p:cNvPr id="18" name="Text 16"/>
          <p:cNvSpPr/>
          <p:nvPr/>
        </p:nvSpPr>
        <p:spPr>
          <a:xfrm>
            <a:off x="8091011" y="1051560"/>
            <a:ext cx="1240393"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Fraud Recovery</a:t>
            </a:r>
            <a:endParaRPr lang="en-US" sz="950" dirty="0"/>
          </a:p>
        </p:txBody>
      </p:sp>
      <p:sp>
        <p:nvSpPr>
          <p:cNvPr id="19" name="Text 17"/>
          <p:cNvSpPr/>
          <p:nvPr/>
        </p:nvSpPr>
        <p:spPr>
          <a:xfrm>
            <a:off x="6080284" y="1266111"/>
            <a:ext cx="5261967" cy="317183"/>
          </a:xfrm>
          <a:prstGeom prst="rect">
            <a:avLst/>
          </a:prstGeom>
          <a:noFill/>
          <a:ln/>
        </p:spPr>
        <p:txBody>
          <a:bodyPr wrap="squar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Successfully identify 89 fraudulent providers billing $584K average. Begin recovery proceedings for $52M in fraudulent claims.</a:t>
            </a:r>
            <a:endParaRPr lang="en-US" sz="750" dirty="0"/>
          </a:p>
        </p:txBody>
      </p:sp>
      <p:sp>
        <p:nvSpPr>
          <p:cNvPr id="20" name="Shape 18"/>
          <p:cNvSpPr/>
          <p:nvPr/>
        </p:nvSpPr>
        <p:spPr>
          <a:xfrm>
            <a:off x="11495603" y="1980069"/>
            <a:ext cx="15240" cy="297656"/>
          </a:xfrm>
          <a:prstGeom prst="roundRect">
            <a:avLst>
              <a:gd name="adj" fmla="val 97675"/>
            </a:avLst>
          </a:prstGeom>
          <a:solidFill>
            <a:srgbClr val="5C4E69"/>
          </a:solidFill>
          <a:ln/>
        </p:spPr>
      </p:sp>
      <p:sp>
        <p:nvSpPr>
          <p:cNvPr id="21" name="Shape 19"/>
          <p:cNvSpPr/>
          <p:nvPr/>
        </p:nvSpPr>
        <p:spPr>
          <a:xfrm>
            <a:off x="11391662" y="1868507"/>
            <a:ext cx="223242" cy="223242"/>
          </a:xfrm>
          <a:prstGeom prst="roundRect">
            <a:avLst>
              <a:gd name="adj" fmla="val 6668"/>
            </a:avLst>
          </a:prstGeom>
          <a:solidFill>
            <a:srgbClr val="433550"/>
          </a:solidFill>
          <a:ln/>
        </p:spPr>
      </p:sp>
      <p:sp>
        <p:nvSpPr>
          <p:cNvPr id="22" name="Text 20"/>
          <p:cNvSpPr/>
          <p:nvPr/>
        </p:nvSpPr>
        <p:spPr>
          <a:xfrm>
            <a:off x="11428809" y="1887081"/>
            <a:ext cx="148828" cy="185976"/>
          </a:xfrm>
          <a:prstGeom prst="rect">
            <a:avLst/>
          </a:prstGeom>
          <a:noFill/>
          <a:ln/>
        </p:spPr>
        <p:txBody>
          <a:bodyPr wrap="none" lIns="0" tIns="0" rIns="0" bIns="0" rtlCol="0" anchor="t"/>
          <a:lstStyle/>
          <a:p>
            <a:pPr algn="ctr" indent="0" marL="0">
              <a:lnSpc>
                <a:spcPts val="1150"/>
              </a:lnSpc>
              <a:buNone/>
            </a:pPr>
            <a:r>
              <a:rPr lang="en-US" sz="1150" b="1" dirty="0">
                <a:solidFill>
                  <a:srgbClr val="DAD1E6"/>
                </a:solidFill>
                <a:latin typeface="Inconsolata Bold" pitchFamily="34" charset="0"/>
                <a:ea typeface="Inconsolata Bold" pitchFamily="34" charset="-122"/>
                <a:cs typeface="Inconsolata Bold" pitchFamily="34" charset="-120"/>
              </a:rPr>
              <a:t>4</a:t>
            </a:r>
            <a:endParaRPr lang="en-US" sz="1150" dirty="0"/>
          </a:p>
        </p:txBody>
      </p:sp>
      <p:sp>
        <p:nvSpPr>
          <p:cNvPr id="23" name="Text 21"/>
          <p:cNvSpPr/>
          <p:nvPr/>
        </p:nvSpPr>
        <p:spPr>
          <a:xfrm>
            <a:off x="10821710" y="2376964"/>
            <a:ext cx="1363385" cy="155019"/>
          </a:xfrm>
          <a:prstGeom prst="rect">
            <a:avLst/>
          </a:prstGeom>
          <a:noFill/>
          <a:ln/>
        </p:spPr>
        <p:txBody>
          <a:bodyPr wrap="none" lIns="0" tIns="0" rIns="0" bIns="0" rtlCol="0" anchor="t"/>
          <a:lstStyle/>
          <a:p>
            <a:pPr algn="ctr"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Operational Efficiency</a:t>
            </a:r>
            <a:endParaRPr lang="en-US" sz="950" dirty="0"/>
          </a:p>
        </p:txBody>
      </p:sp>
      <p:sp>
        <p:nvSpPr>
          <p:cNvPr id="24" name="Text 22"/>
          <p:cNvSpPr/>
          <p:nvPr/>
        </p:nvSpPr>
        <p:spPr>
          <a:xfrm>
            <a:off x="8872418" y="2591514"/>
            <a:ext cx="5261967" cy="158591"/>
          </a:xfrm>
          <a:prstGeom prst="rect">
            <a:avLst/>
          </a:prstGeom>
          <a:noFill/>
          <a:ln/>
        </p:spPr>
        <p:txBody>
          <a:bodyPr wrap="none" lIns="0" tIns="0" rIns="0" bIns="0" rtlCol="0" anchor="t"/>
          <a:lstStyle/>
          <a:p>
            <a:pPr algn="ctr" indent="0" marL="0">
              <a:lnSpc>
                <a:spcPts val="1250"/>
              </a:lnSpc>
              <a:buNone/>
            </a:pPr>
            <a:r>
              <a:rPr lang="en-US" sz="750" dirty="0">
                <a:solidFill>
                  <a:srgbClr val="DAD1E6"/>
                </a:solidFill>
                <a:latin typeface="Fira Sans" pitchFamily="34" charset="0"/>
                <a:ea typeface="Fira Sans" pitchFamily="34" charset="-122"/>
                <a:cs typeface="Fira Sans" pitchFamily="34" charset="-120"/>
              </a:rPr>
              <a:t>Avoid 853 unnecessary investigations of legitimate providers, saving $2.4M in investigative resources annually.</a:t>
            </a:r>
            <a:endParaRPr lang="en-US" sz="750" dirty="0"/>
          </a:p>
        </p:txBody>
      </p:sp>
      <p:pic>
        <p:nvPicPr>
          <p:cNvPr id="25" name="Image 0" descr="preencoded.png">    </p:cNvPr>
          <p:cNvPicPr>
            <a:picLocks noChangeAspect="1"/>
          </p:cNvPicPr>
          <p:nvPr/>
        </p:nvPicPr>
        <p:blipFill>
          <a:blip r:embed="rId1"/>
          <a:stretch>
            <a:fillRect/>
          </a:stretch>
        </p:blipFill>
        <p:spPr>
          <a:xfrm>
            <a:off x="396835" y="3131820"/>
            <a:ext cx="6093381" cy="6093381"/>
          </a:xfrm>
          <a:prstGeom prst="rect">
            <a:avLst/>
          </a:prstGeom>
        </p:spPr>
      </p:pic>
      <p:sp>
        <p:nvSpPr>
          <p:cNvPr id="26" name="Text 23"/>
          <p:cNvSpPr/>
          <p:nvPr/>
        </p:nvSpPr>
        <p:spPr>
          <a:xfrm>
            <a:off x="6739771" y="3119438"/>
            <a:ext cx="1710214" cy="185976"/>
          </a:xfrm>
          <a:prstGeom prst="rect">
            <a:avLst/>
          </a:prstGeom>
          <a:noFill/>
          <a:ln/>
        </p:spPr>
        <p:txBody>
          <a:bodyPr wrap="none" lIns="0" tIns="0" rIns="0" bIns="0" rtlCol="0" anchor="t"/>
          <a:lstStyle/>
          <a:p>
            <a:pPr algn="l" indent="0" marL="0">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ROI Calculation Details</a:t>
            </a:r>
            <a:endParaRPr lang="en-US" sz="1150" dirty="0"/>
          </a:p>
        </p:txBody>
      </p:sp>
      <p:sp>
        <p:nvSpPr>
          <p:cNvPr id="27" name="Text 24"/>
          <p:cNvSpPr/>
          <p:nvPr/>
        </p:nvSpPr>
        <p:spPr>
          <a:xfrm>
            <a:off x="6739771" y="3404592"/>
            <a:ext cx="7501295" cy="317183"/>
          </a:xfrm>
          <a:prstGeom prst="rect">
            <a:avLst/>
          </a:prstGeom>
          <a:noFill/>
          <a:ln/>
        </p:spPr>
        <p:txBody>
          <a:bodyPr wrap="square" lIns="0" tIns="0" rIns="0" bIns="0" rtlCol="0" anchor="t"/>
          <a:lstStyle/>
          <a:p>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Fraud Detection Value:</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Our model identifies 89 fraudulent providers from the test dataset, each billing an average of $584K annually. Assuming Medicare recovers even a portion of these fraudulent billings and prevents future fraud from these providers, the </a:t>
            </a:r>
            <a:pPr algn="l" indent="0" marL="0">
              <a:lnSpc>
                <a:spcPts val="1250"/>
              </a:lnSpc>
              <a:buNone/>
            </a:pPr>
            <a:r>
              <a:rPr lang="en-US" sz="750" b="1" dirty="0">
                <a:solidFill>
                  <a:srgbClr val="F94CAF"/>
                </a:solidFill>
                <a:latin typeface="Fira Sans" pitchFamily="34" charset="0"/>
                <a:ea typeface="Fira Sans" pitchFamily="34" charset="-122"/>
                <a:cs typeface="Fira Sans" pitchFamily="34" charset="-120"/>
              </a:rPr>
              <a:t>potential fraud value exceeds $52 million</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a:t>
            </a:r>
            <a:endParaRPr lang="en-US" sz="750" dirty="0"/>
          </a:p>
        </p:txBody>
      </p:sp>
      <p:sp>
        <p:nvSpPr>
          <p:cNvPr id="28" name="Text 25"/>
          <p:cNvSpPr/>
          <p:nvPr/>
        </p:nvSpPr>
        <p:spPr>
          <a:xfrm>
            <a:off x="6739771" y="3811072"/>
            <a:ext cx="7501295" cy="317183"/>
          </a:xfrm>
          <a:prstGeom prst="rect">
            <a:avLst/>
          </a:prstGeom>
          <a:noFill/>
          <a:ln/>
        </p:spPr>
        <p:txBody>
          <a:bodyPr wrap="square" lIns="0" tIns="0" rIns="0" bIns="0" rtlCol="0" anchor="t"/>
          <a:lstStyle/>
          <a:p>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Investigation Efficiency:</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By correctly clearing 853 legitimate providers from intensive investigation, we save approximately </a:t>
            </a:r>
            <a:pPr algn="l" indent="0" marL="0">
              <a:lnSpc>
                <a:spcPts val="1250"/>
              </a:lnSpc>
              <a:buNone/>
            </a:pPr>
            <a:r>
              <a:rPr lang="en-US" sz="750" b="1" dirty="0">
                <a:solidFill>
                  <a:srgbClr val="F94CAF"/>
                </a:solidFill>
                <a:latin typeface="Fira Sans" pitchFamily="34" charset="0"/>
                <a:ea typeface="Fira Sans" pitchFamily="34" charset="-122"/>
                <a:cs typeface="Fira Sans" pitchFamily="34" charset="-120"/>
              </a:rPr>
              <a:t>$2.4 million in investigative costs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(assuming $3K per full provider audit). These resources can be redirected to prosecuting confirmed fraud cases or expanding detection capabilities.</a:t>
            </a:r>
            <a:endParaRPr lang="en-US" sz="750" dirty="0"/>
          </a:p>
        </p:txBody>
      </p:sp>
      <p:sp>
        <p:nvSpPr>
          <p:cNvPr id="29" name="Shape 26"/>
          <p:cNvSpPr/>
          <p:nvPr/>
        </p:nvSpPr>
        <p:spPr>
          <a:xfrm>
            <a:off x="396835" y="9448324"/>
            <a:ext cx="4546044" cy="1126927"/>
          </a:xfrm>
          <a:prstGeom prst="roundRect">
            <a:avLst>
              <a:gd name="adj" fmla="val 1321"/>
            </a:avLst>
          </a:prstGeom>
          <a:solidFill>
            <a:srgbClr val="433550"/>
          </a:solidFill>
          <a:ln/>
        </p:spPr>
      </p:sp>
      <p:pic>
        <p:nvPicPr>
          <p:cNvPr id="30" name="Image 1" descr="preencoded.png">    </p:cNvPr>
          <p:cNvPicPr>
            <a:picLocks noChangeAspect="1"/>
          </p:cNvPicPr>
          <p:nvPr/>
        </p:nvPicPr>
        <p:blipFill>
          <a:blip r:embed="rId2"/>
          <a:stretch>
            <a:fillRect/>
          </a:stretch>
        </p:blipFill>
        <p:spPr>
          <a:xfrm>
            <a:off x="496014" y="9547503"/>
            <a:ext cx="297656" cy="297656"/>
          </a:xfrm>
          <a:prstGeom prst="rect">
            <a:avLst/>
          </a:prstGeom>
        </p:spPr>
      </p:pic>
      <p:pic>
        <p:nvPicPr>
          <p:cNvPr id="31"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7810" y="9629299"/>
            <a:ext cx="133945" cy="133945"/>
          </a:xfrm>
          <a:prstGeom prst="rect">
            <a:avLst/>
          </a:prstGeom>
        </p:spPr>
      </p:pic>
      <p:sp>
        <p:nvSpPr>
          <p:cNvPr id="32" name="Text 27"/>
          <p:cNvSpPr/>
          <p:nvPr/>
        </p:nvSpPr>
        <p:spPr>
          <a:xfrm>
            <a:off x="496014" y="9944338"/>
            <a:ext cx="1735217"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Focus on High-Risk Providers</a:t>
            </a:r>
            <a:endParaRPr lang="en-US" sz="950" dirty="0"/>
          </a:p>
        </p:txBody>
      </p:sp>
      <p:sp>
        <p:nvSpPr>
          <p:cNvPr id="33" name="Text 28"/>
          <p:cNvSpPr/>
          <p:nvPr/>
        </p:nvSpPr>
        <p:spPr>
          <a:xfrm>
            <a:off x="496014" y="10158889"/>
            <a:ext cx="4347686"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Instead of investigating 5,410 providers or relying on random sampling, CMS can concentrate on 169 algorithmically-identified high-risk cases—improving both hit rate and investigator morale</a:t>
            </a:r>
            <a:endParaRPr lang="en-US" sz="750" dirty="0"/>
          </a:p>
        </p:txBody>
      </p:sp>
      <p:sp>
        <p:nvSpPr>
          <p:cNvPr id="34" name="Shape 29"/>
          <p:cNvSpPr/>
          <p:nvPr/>
        </p:nvSpPr>
        <p:spPr>
          <a:xfrm>
            <a:off x="5042059" y="9448324"/>
            <a:ext cx="4546163" cy="1126927"/>
          </a:xfrm>
          <a:prstGeom prst="roundRect">
            <a:avLst>
              <a:gd name="adj" fmla="val 1321"/>
            </a:avLst>
          </a:prstGeom>
          <a:solidFill>
            <a:srgbClr val="433550"/>
          </a:solidFill>
          <a:ln/>
        </p:spPr>
      </p:sp>
      <p:pic>
        <p:nvPicPr>
          <p:cNvPr id="35" name="Image 3" descr="preencoded.png">    </p:cNvPr>
          <p:cNvPicPr>
            <a:picLocks noChangeAspect="1"/>
          </p:cNvPicPr>
          <p:nvPr/>
        </p:nvPicPr>
        <p:blipFill>
          <a:blip r:embed="rId5"/>
          <a:stretch>
            <a:fillRect/>
          </a:stretch>
        </p:blipFill>
        <p:spPr>
          <a:xfrm>
            <a:off x="5141238" y="9547503"/>
            <a:ext cx="297656" cy="297656"/>
          </a:xfrm>
          <a:prstGeom prst="rect">
            <a:avLst/>
          </a:prstGeom>
        </p:spPr>
      </p:pic>
      <p:pic>
        <p:nvPicPr>
          <p:cNvPr id="36"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23034" y="9629299"/>
            <a:ext cx="133945" cy="133945"/>
          </a:xfrm>
          <a:prstGeom prst="rect">
            <a:avLst/>
          </a:prstGeom>
        </p:spPr>
      </p:pic>
      <p:sp>
        <p:nvSpPr>
          <p:cNvPr id="37" name="Text 30"/>
          <p:cNvSpPr/>
          <p:nvPr/>
        </p:nvSpPr>
        <p:spPr>
          <a:xfrm>
            <a:off x="5141238" y="9944338"/>
            <a:ext cx="1673304"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Catch the Majority of Fraud</a:t>
            </a:r>
            <a:endParaRPr lang="en-US" sz="950" dirty="0"/>
          </a:p>
        </p:txBody>
      </p:sp>
      <p:sp>
        <p:nvSpPr>
          <p:cNvPr id="38" name="Text 31"/>
          <p:cNvSpPr/>
          <p:nvPr/>
        </p:nvSpPr>
        <p:spPr>
          <a:xfrm>
            <a:off x="5141238" y="10158889"/>
            <a:ext cx="434780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With 88.1% detection rate, we identify 89 out of 101 fraudulent providers in the test data—substantially better than traditional detection methods</a:t>
            </a:r>
            <a:endParaRPr lang="en-US" sz="750" dirty="0"/>
          </a:p>
        </p:txBody>
      </p:sp>
      <p:sp>
        <p:nvSpPr>
          <p:cNvPr id="39" name="Shape 32"/>
          <p:cNvSpPr/>
          <p:nvPr/>
        </p:nvSpPr>
        <p:spPr>
          <a:xfrm>
            <a:off x="9687401" y="9448324"/>
            <a:ext cx="4546163" cy="1126927"/>
          </a:xfrm>
          <a:prstGeom prst="roundRect">
            <a:avLst>
              <a:gd name="adj" fmla="val 1321"/>
            </a:avLst>
          </a:prstGeom>
          <a:solidFill>
            <a:srgbClr val="433550"/>
          </a:solidFill>
          <a:ln/>
        </p:spPr>
      </p:sp>
      <p:pic>
        <p:nvPicPr>
          <p:cNvPr id="40" name="Image 5" descr="preencoded.png">    </p:cNvPr>
          <p:cNvPicPr>
            <a:picLocks noChangeAspect="1"/>
          </p:cNvPicPr>
          <p:nvPr/>
        </p:nvPicPr>
        <p:blipFill>
          <a:blip r:embed="rId8"/>
          <a:stretch>
            <a:fillRect/>
          </a:stretch>
        </p:blipFill>
        <p:spPr>
          <a:xfrm>
            <a:off x="9786580" y="9547503"/>
            <a:ext cx="297656" cy="297656"/>
          </a:xfrm>
          <a:prstGeom prst="rect">
            <a:avLst/>
          </a:prstGeom>
        </p:spPr>
      </p:pic>
      <p:pic>
        <p:nvPicPr>
          <p:cNvPr id="41"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868376" y="9629299"/>
            <a:ext cx="133945" cy="133945"/>
          </a:xfrm>
          <a:prstGeom prst="rect">
            <a:avLst/>
          </a:prstGeom>
        </p:spPr>
      </p:pic>
      <p:sp>
        <p:nvSpPr>
          <p:cNvPr id="42" name="Text 33"/>
          <p:cNvSpPr/>
          <p:nvPr/>
        </p:nvSpPr>
        <p:spPr>
          <a:xfrm>
            <a:off x="9786580" y="9944338"/>
            <a:ext cx="1363385"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Avoid Unnecessary Work</a:t>
            </a:r>
            <a:endParaRPr lang="en-US" sz="950" dirty="0"/>
          </a:p>
        </p:txBody>
      </p:sp>
      <p:sp>
        <p:nvSpPr>
          <p:cNvPr id="43" name="Text 34"/>
          <p:cNvSpPr/>
          <p:nvPr/>
        </p:nvSpPr>
        <p:spPr>
          <a:xfrm>
            <a:off x="9786580" y="10158889"/>
            <a:ext cx="434780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Correctly identifying 853 legitimate providers prevents wasteful investigations, freeing resources for genuine fraud cases and reducing burden on compliant providers</a:t>
            </a:r>
            <a:endParaRPr lang="en-US" sz="750" dirty="0"/>
          </a:p>
        </p:txBody>
      </p:sp>
      <p:sp>
        <p:nvSpPr>
          <p:cNvPr id="44" name="Shape 35"/>
          <p:cNvSpPr/>
          <p:nvPr/>
        </p:nvSpPr>
        <p:spPr>
          <a:xfrm>
            <a:off x="396835" y="10686812"/>
            <a:ext cx="13836729" cy="421362"/>
          </a:xfrm>
          <a:prstGeom prst="roundRect">
            <a:avLst>
              <a:gd name="adj" fmla="val 3533"/>
            </a:avLst>
          </a:prstGeom>
          <a:solidFill>
            <a:srgbClr val="4A022B"/>
          </a:solidFill>
          <a:ln/>
        </p:spPr>
      </p:sp>
      <p:pic>
        <p:nvPicPr>
          <p:cNvPr id="45" name="Image 7" descr="preencoded.png">    </p:cNvPr>
          <p:cNvPicPr>
            <a:picLocks noChangeAspect="1"/>
          </p:cNvPicPr>
          <p:nvPr/>
        </p:nvPicPr>
        <p:blipFill>
          <a:blip r:embed="rId11"/>
          <a:stretch>
            <a:fillRect/>
          </a:stretch>
        </p:blipFill>
        <p:spPr>
          <a:xfrm>
            <a:off x="496014" y="10830639"/>
            <a:ext cx="123944" cy="99179"/>
          </a:xfrm>
          <a:prstGeom prst="rect">
            <a:avLst/>
          </a:prstGeom>
        </p:spPr>
      </p:pic>
      <p:sp>
        <p:nvSpPr>
          <p:cNvPr id="46" name="Text 36"/>
          <p:cNvSpPr/>
          <p:nvPr/>
        </p:nvSpPr>
        <p:spPr>
          <a:xfrm>
            <a:off x="719137" y="10810756"/>
            <a:ext cx="13415248" cy="158591"/>
          </a:xfrm>
          <a:prstGeom prst="rect">
            <a:avLst/>
          </a:prstGeom>
          <a:noFill/>
          <a:ln/>
        </p:spPr>
        <p:txBody>
          <a:bodyPr wrap="none" lIns="0" tIns="0" rIns="0" bIns="0" rtlCol="0" anchor="t"/>
          <a:lstStyle/>
          <a:p>
            <a:pPr algn="l" indent="0" marL="0">
              <a:lnSpc>
                <a:spcPts val="1250"/>
              </a:lnSpc>
              <a:buNone/>
            </a:pPr>
            <a:r>
              <a:rPr lang="en-US" sz="750" b="1" dirty="0">
                <a:solidFill>
                  <a:srgbClr val="FFFFFF"/>
                </a:solidFill>
                <a:latin typeface="Fira Sans" pitchFamily="34" charset="0"/>
                <a:ea typeface="Fira Sans" pitchFamily="34" charset="-122"/>
                <a:cs typeface="Fira Sans" pitchFamily="34" charset="-120"/>
              </a:rPr>
              <a:t>Conservative Estimates:</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Our $52M fraud value represents only the test dataset and assumes first-year recovery. Over a multi-year deployment across Medicare's full provider population, the cumulative impact could reach hundreds of millions in prevented fraud losses and recovered funds.</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96835" y="272891"/>
            <a:ext cx="4340185" cy="310158"/>
          </a:xfrm>
          <a:prstGeom prst="rect">
            <a:avLst/>
          </a:prstGeom>
          <a:noFill/>
          <a:ln/>
        </p:spPr>
        <p:txBody>
          <a:bodyPr wrap="none" lIns="0" tIns="0" rIns="0" bIns="0" rtlCol="0" anchor="t"/>
          <a:lstStyle/>
          <a:p>
            <a:pPr algn="l" indent="0" marL="0">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Building Trust Through Transparency</a:t>
            </a:r>
            <a:endParaRPr lang="en-US" sz="1950" dirty="0"/>
          </a:p>
        </p:txBody>
      </p:sp>
      <p:sp>
        <p:nvSpPr>
          <p:cNvPr id="3" name="Text 1"/>
          <p:cNvSpPr/>
          <p:nvPr/>
        </p:nvSpPr>
        <p:spPr>
          <a:xfrm>
            <a:off x="396835" y="781407"/>
            <a:ext cx="13836729"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For Medicare fraud detection,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model interpretability isn't optional—it's essential</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CMS investigators must explain their case prioritization to oversight bodies, defend their methods in legal proceedings, and maintain public trust in program integrity efforts. Our logistic regression approach provides the transparency required for regulatory compliance while delivering strong predictive performance.</a:t>
            </a:r>
            <a:endParaRPr lang="en-US" sz="750" dirty="0"/>
          </a:p>
        </p:txBody>
      </p:sp>
      <p:pic>
        <p:nvPicPr>
          <p:cNvPr id="4" name="Image 0" descr="preencoded.png">    </p:cNvPr>
          <p:cNvPicPr>
            <a:picLocks noChangeAspect="1"/>
          </p:cNvPicPr>
          <p:nvPr/>
        </p:nvPicPr>
        <p:blipFill>
          <a:blip r:embed="rId1"/>
          <a:stretch>
            <a:fillRect/>
          </a:stretch>
        </p:blipFill>
        <p:spPr>
          <a:xfrm>
            <a:off x="396835" y="1210151"/>
            <a:ext cx="4612243" cy="396835"/>
          </a:xfrm>
          <a:prstGeom prst="rect">
            <a:avLst/>
          </a:prstGeom>
        </p:spPr>
      </p:pic>
      <p:sp>
        <p:nvSpPr>
          <p:cNvPr id="5" name="Text 2"/>
          <p:cNvSpPr/>
          <p:nvPr/>
        </p:nvSpPr>
        <p:spPr>
          <a:xfrm>
            <a:off x="496014" y="1706166"/>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Legal Defensibility</a:t>
            </a:r>
            <a:endParaRPr lang="en-US" sz="950" dirty="0"/>
          </a:p>
        </p:txBody>
      </p:sp>
      <p:sp>
        <p:nvSpPr>
          <p:cNvPr id="6" name="Text 3"/>
          <p:cNvSpPr/>
          <p:nvPr/>
        </p:nvSpPr>
        <p:spPr>
          <a:xfrm>
            <a:off x="496014" y="1920716"/>
            <a:ext cx="441388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Clear coefficient weights explain exactly why each provider received a fraud risk score, providing documentation for audits and legal challenges</a:t>
            </a:r>
            <a:endParaRPr lang="en-US" sz="750" dirty="0"/>
          </a:p>
        </p:txBody>
      </p:sp>
      <p:pic>
        <p:nvPicPr>
          <p:cNvPr id="7" name="Image 1" descr="preencoded.png">    </p:cNvPr>
          <p:cNvPicPr>
            <a:picLocks noChangeAspect="1"/>
          </p:cNvPicPr>
          <p:nvPr/>
        </p:nvPicPr>
        <p:blipFill>
          <a:blip r:embed="rId2"/>
          <a:stretch>
            <a:fillRect/>
          </a:stretch>
        </p:blipFill>
        <p:spPr>
          <a:xfrm>
            <a:off x="5009078" y="1210151"/>
            <a:ext cx="4612243" cy="396835"/>
          </a:xfrm>
          <a:prstGeom prst="rect">
            <a:avLst/>
          </a:prstGeom>
        </p:spPr>
      </p:pic>
      <p:sp>
        <p:nvSpPr>
          <p:cNvPr id="8" name="Text 4"/>
          <p:cNvSpPr/>
          <p:nvPr/>
        </p:nvSpPr>
        <p:spPr>
          <a:xfrm>
            <a:off x="5108258" y="1706166"/>
            <a:ext cx="1363385"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Investigative Guidance</a:t>
            </a:r>
            <a:endParaRPr lang="en-US" sz="950" dirty="0"/>
          </a:p>
        </p:txBody>
      </p:sp>
      <p:sp>
        <p:nvSpPr>
          <p:cNvPr id="9" name="Text 5"/>
          <p:cNvSpPr/>
          <p:nvPr/>
        </p:nvSpPr>
        <p:spPr>
          <a:xfrm>
            <a:off x="5108258" y="1920716"/>
            <a:ext cx="441388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Feature importance rankings tell investigators which billing patterns triggered the alert, focusing their examination on specific concerns</a:t>
            </a:r>
            <a:endParaRPr lang="en-US" sz="750" dirty="0"/>
          </a:p>
        </p:txBody>
      </p:sp>
      <p:pic>
        <p:nvPicPr>
          <p:cNvPr id="10" name="Image 2" descr="preencoded.png">    </p:cNvPr>
          <p:cNvPicPr>
            <a:picLocks noChangeAspect="1"/>
          </p:cNvPicPr>
          <p:nvPr/>
        </p:nvPicPr>
        <p:blipFill>
          <a:blip r:embed="rId3"/>
          <a:stretch>
            <a:fillRect/>
          </a:stretch>
        </p:blipFill>
        <p:spPr>
          <a:xfrm>
            <a:off x="9621322" y="1210151"/>
            <a:ext cx="4612243" cy="396835"/>
          </a:xfrm>
          <a:prstGeom prst="rect">
            <a:avLst/>
          </a:prstGeom>
        </p:spPr>
      </p:pic>
      <p:sp>
        <p:nvSpPr>
          <p:cNvPr id="11" name="Text 6"/>
          <p:cNvSpPr/>
          <p:nvPr/>
        </p:nvSpPr>
        <p:spPr>
          <a:xfrm>
            <a:off x="9720501" y="1706166"/>
            <a:ext cx="1240393" cy="155019"/>
          </a:xfrm>
          <a:prstGeom prst="rect">
            <a:avLst/>
          </a:prstGeom>
          <a:noFill/>
          <a:ln/>
        </p:spPr>
        <p:txBody>
          <a:bodyPr wrap="none" lIns="0" tIns="0" rIns="0" bIns="0" rtlCol="0" anchor="t"/>
          <a:lstStyle/>
          <a:p>
            <a:pPr algn="l" indent="0" marL="0">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Audit Compliance</a:t>
            </a:r>
            <a:endParaRPr lang="en-US" sz="950" dirty="0"/>
          </a:p>
        </p:txBody>
      </p:sp>
      <p:sp>
        <p:nvSpPr>
          <p:cNvPr id="12" name="Text 7"/>
          <p:cNvSpPr/>
          <p:nvPr/>
        </p:nvSpPr>
        <p:spPr>
          <a:xfrm>
            <a:off x="9720501" y="1920716"/>
            <a:ext cx="4413885"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Transparent decision-making satisfies regulatory requirements for explainable AI in government applications affecting citizen benefits</a:t>
            </a:r>
            <a:endParaRPr lang="en-US" sz="750" dirty="0"/>
          </a:p>
        </p:txBody>
      </p:sp>
      <p:sp>
        <p:nvSpPr>
          <p:cNvPr id="13" name="Text 8"/>
          <p:cNvSpPr/>
          <p:nvPr/>
        </p:nvSpPr>
        <p:spPr>
          <a:xfrm>
            <a:off x="396835" y="2547818"/>
            <a:ext cx="1858923" cy="185976"/>
          </a:xfrm>
          <a:prstGeom prst="rect">
            <a:avLst/>
          </a:prstGeom>
          <a:noFill/>
          <a:ln/>
        </p:spPr>
        <p:txBody>
          <a:bodyPr wrap="none" lIns="0" tIns="0" rIns="0" bIns="0" rtlCol="0" anchor="t"/>
          <a:lstStyle/>
          <a:p>
            <a:pPr algn="l" indent="0" marL="0">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Top Fraud Risk Indicators</a:t>
            </a:r>
            <a:endParaRPr lang="en-US" sz="1150" dirty="0"/>
          </a:p>
        </p:txBody>
      </p:sp>
      <p:sp>
        <p:nvSpPr>
          <p:cNvPr id="14" name="Text 9"/>
          <p:cNvSpPr/>
          <p:nvPr/>
        </p:nvSpPr>
        <p:spPr>
          <a:xfrm>
            <a:off x="396835" y="2832973"/>
            <a:ext cx="6797397"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Our logistic regression model identifies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specific features that most strongly predict fraud risk</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These aren't arbitrary patterns—they reflect well-established fraud schemes documented in CMS enforcement actions:</a:t>
            </a:r>
            <a:endParaRPr lang="en-US" sz="750" dirty="0"/>
          </a:p>
        </p:txBody>
      </p:sp>
      <p:sp>
        <p:nvSpPr>
          <p:cNvPr id="15" name="Text 10"/>
          <p:cNvSpPr/>
          <p:nvPr/>
        </p:nvSpPr>
        <p:spPr>
          <a:xfrm>
            <a:off x="396835" y="3239452"/>
            <a:ext cx="6797397" cy="317183"/>
          </a:xfrm>
          <a:prstGeom prst="rect">
            <a:avLst/>
          </a:prstGeom>
          <a:noFill/>
          <a:ln/>
        </p:spPr>
        <p:txBody>
          <a:bodyPr wrap="square" lIns="0" tIns="0" rIns="0" bIns="0" rtlCol="0" anchor="t"/>
          <a:lstStyle/>
          <a:p>
            <a:pPr algn="l" marL="342900" indent="-342900">
              <a:lnSpc>
                <a:spcPts val="1250"/>
              </a:lnSpc>
              <a:buSzPct val="100000"/>
              <a:buFont typeface="+mj-lt"/>
              <a:buAutoNum type="arabicPeriod" startAt="1"/>
            </a:pPr>
            <a:r>
              <a:rPr lang="en-US" sz="750" b="1" dirty="0">
                <a:solidFill>
                  <a:srgbClr val="DAD1E6"/>
                </a:solidFill>
                <a:latin typeface="Fira Sans" pitchFamily="34" charset="0"/>
                <a:ea typeface="Fira Sans" pitchFamily="34" charset="-122"/>
                <a:cs typeface="Fira Sans" pitchFamily="34" charset="-120"/>
              </a:rPr>
              <a:t>Total Claim Amounts: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Aggregate inpatient and outpatient billings serve as the strongest single predictor, capturing the volume-based nature of many fraud schemes</a:t>
            </a:r>
            <a:endParaRPr lang="en-US" sz="750" dirty="0"/>
          </a:p>
        </p:txBody>
      </p:sp>
      <p:sp>
        <p:nvSpPr>
          <p:cNvPr id="16" name="Text 11"/>
          <p:cNvSpPr/>
          <p:nvPr/>
        </p:nvSpPr>
        <p:spPr>
          <a:xfrm>
            <a:off x="396835" y="3591282"/>
            <a:ext cx="6797397" cy="317183"/>
          </a:xfrm>
          <a:prstGeom prst="rect">
            <a:avLst/>
          </a:prstGeom>
          <a:noFill/>
          <a:ln/>
        </p:spPr>
        <p:txBody>
          <a:bodyPr wrap="square" lIns="0" tIns="0" rIns="0" bIns="0" rtlCol="0" anchor="t"/>
          <a:lstStyle/>
          <a:p>
            <a:pPr algn="l" marL="342900" indent="-342900">
              <a:lnSpc>
                <a:spcPts val="1250"/>
              </a:lnSpc>
              <a:buSzPct val="100000"/>
              <a:buFont typeface="+mj-lt"/>
              <a:buAutoNum type="arabicPeriod" startAt="2"/>
            </a:pPr>
            <a:r>
              <a:rPr lang="en-US" sz="750" b="1" dirty="0">
                <a:solidFill>
                  <a:srgbClr val="DAD1E6"/>
                </a:solidFill>
                <a:latin typeface="Fira Sans" pitchFamily="34" charset="0"/>
                <a:ea typeface="Fira Sans" pitchFamily="34" charset="-122"/>
                <a:cs typeface="Fira Sans" pitchFamily="34" charset="-120"/>
              </a:rPr>
              <a:t>Unique Patient Count:</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The number of different beneficiaries served indicates potential beneficiary recruitment operations or unnecessary care schemes</a:t>
            </a:r>
            <a:endParaRPr lang="en-US" sz="750" dirty="0"/>
          </a:p>
        </p:txBody>
      </p:sp>
      <p:sp>
        <p:nvSpPr>
          <p:cNvPr id="17" name="Text 12"/>
          <p:cNvSpPr/>
          <p:nvPr/>
        </p:nvSpPr>
        <p:spPr>
          <a:xfrm>
            <a:off x="396835" y="3943112"/>
            <a:ext cx="6797397" cy="317183"/>
          </a:xfrm>
          <a:prstGeom prst="rect">
            <a:avLst/>
          </a:prstGeom>
          <a:noFill/>
          <a:ln/>
        </p:spPr>
        <p:txBody>
          <a:bodyPr wrap="square" lIns="0" tIns="0" rIns="0" bIns="0" rtlCol="0" anchor="t"/>
          <a:lstStyle/>
          <a:p>
            <a:pPr algn="l" marL="342900" indent="-342900">
              <a:lnSpc>
                <a:spcPts val="1250"/>
              </a:lnSpc>
              <a:buSzPct val="100000"/>
              <a:buFont typeface="+mj-lt"/>
              <a:buAutoNum type="arabicPeriod" startAt="3"/>
            </a:pPr>
            <a:r>
              <a:rPr lang="en-US" sz="750" b="1" dirty="0">
                <a:solidFill>
                  <a:srgbClr val="DAD1E6"/>
                </a:solidFill>
                <a:latin typeface="Fira Sans" pitchFamily="34" charset="0"/>
                <a:ea typeface="Fira Sans" pitchFamily="34" charset="-122"/>
                <a:cs typeface="Fira Sans" pitchFamily="34" charset="-120"/>
              </a:rPr>
              <a:t>Claim Frequency Patterns: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Unusual spikes in claim submissions or consistent high-frequency billing suggest systematic overbilling rather than episodic patient needs</a:t>
            </a:r>
            <a:endParaRPr lang="en-US" sz="750" dirty="0"/>
          </a:p>
        </p:txBody>
      </p:sp>
      <p:sp>
        <p:nvSpPr>
          <p:cNvPr id="18" name="Text 13"/>
          <p:cNvSpPr/>
          <p:nvPr/>
        </p:nvSpPr>
        <p:spPr>
          <a:xfrm>
            <a:off x="396835" y="4294942"/>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4"/>
            </a:pPr>
            <a:r>
              <a:rPr lang="en-US" sz="750" b="1" dirty="0">
                <a:solidFill>
                  <a:srgbClr val="DAD1E6"/>
                </a:solidFill>
                <a:latin typeface="Fira Sans" pitchFamily="34" charset="0"/>
                <a:ea typeface="Fira Sans" pitchFamily="34" charset="-122"/>
                <a:cs typeface="Fira Sans" pitchFamily="34" charset="-120"/>
              </a:rPr>
              <a:t>Service Mix Anomalies:</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Disproportionate billing in high-reimbursement service categories compared to peer providers in similar specialties</a:t>
            </a:r>
            <a:endParaRPr lang="en-US" sz="750" dirty="0"/>
          </a:p>
        </p:txBody>
      </p:sp>
      <p:sp>
        <p:nvSpPr>
          <p:cNvPr id="19" name="Text 14"/>
          <p:cNvSpPr/>
          <p:nvPr/>
        </p:nvSpPr>
        <p:spPr>
          <a:xfrm>
            <a:off x="7443788" y="2547818"/>
            <a:ext cx="1635800" cy="185976"/>
          </a:xfrm>
          <a:prstGeom prst="rect">
            <a:avLst/>
          </a:prstGeom>
          <a:noFill/>
          <a:ln/>
        </p:spPr>
        <p:txBody>
          <a:bodyPr wrap="none" lIns="0" tIns="0" rIns="0" bIns="0" rtlCol="0" anchor="t"/>
          <a:lstStyle/>
          <a:p>
            <a:pPr algn="l" indent="0" marL="0">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Real-World Application</a:t>
            </a:r>
            <a:endParaRPr lang="en-US" sz="1150" dirty="0"/>
          </a:p>
        </p:txBody>
      </p:sp>
      <p:sp>
        <p:nvSpPr>
          <p:cNvPr id="20" name="Text 15"/>
          <p:cNvSpPr/>
          <p:nvPr/>
        </p:nvSpPr>
        <p:spPr>
          <a:xfrm>
            <a:off x="7443788" y="2832973"/>
            <a:ext cx="6797397" cy="158591"/>
          </a:xfrm>
          <a:prstGeom prst="rect">
            <a:avLst/>
          </a:prstGeom>
          <a:noFill/>
          <a:ln/>
        </p:spPr>
        <p:txBody>
          <a:bodyPr wrap="non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When an investigator receives a flagged provider case, they don't see just a "high risk" label. Instead, they receive a </a:t>
            </a:r>
            <a:pPr algn="l" indent="0" marL="0">
              <a:lnSpc>
                <a:spcPts val="1250"/>
              </a:lnSpc>
              <a:buNone/>
            </a:pPr>
            <a:r>
              <a:rPr lang="en-US" sz="750" b="1" dirty="0">
                <a:solidFill>
                  <a:srgbClr val="DAD1E6"/>
                </a:solidFill>
                <a:latin typeface="Fira Sans" pitchFamily="34" charset="0"/>
                <a:ea typeface="Fira Sans" pitchFamily="34" charset="-122"/>
                <a:cs typeface="Fira Sans" pitchFamily="34" charset="-120"/>
              </a:rPr>
              <a:t>detailed breakdown</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showing:</a:t>
            </a:r>
            <a:endParaRPr lang="en-US" sz="750" dirty="0"/>
          </a:p>
        </p:txBody>
      </p:sp>
      <p:sp>
        <p:nvSpPr>
          <p:cNvPr id="21" name="Text 16"/>
          <p:cNvSpPr/>
          <p:nvPr/>
        </p:nvSpPr>
        <p:spPr>
          <a:xfrm>
            <a:off x="7443788" y="3080861"/>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DAD1E6"/>
                </a:solidFill>
                <a:latin typeface="Fira Sans" pitchFamily="34" charset="0"/>
                <a:ea typeface="Fira Sans" pitchFamily="34" charset="-122"/>
                <a:cs typeface="Fira Sans" pitchFamily="34" charset="-120"/>
              </a:rPr>
              <a:t>Which specific features exceeded normal thresholds</a:t>
            </a:r>
            <a:endParaRPr lang="en-US" sz="750" dirty="0"/>
          </a:p>
        </p:txBody>
      </p:sp>
      <p:sp>
        <p:nvSpPr>
          <p:cNvPr id="22" name="Text 17"/>
          <p:cNvSpPr/>
          <p:nvPr/>
        </p:nvSpPr>
        <p:spPr>
          <a:xfrm>
            <a:off x="7443788" y="3274100"/>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DAD1E6"/>
                </a:solidFill>
                <a:latin typeface="Fira Sans" pitchFamily="34" charset="0"/>
                <a:ea typeface="Fira Sans" pitchFamily="34" charset="-122"/>
                <a:cs typeface="Fira Sans" pitchFamily="34" charset="-120"/>
              </a:rPr>
              <a:t>How the provider's billing patterns compare to legitimate peers</a:t>
            </a:r>
            <a:endParaRPr lang="en-US" sz="750" dirty="0"/>
          </a:p>
        </p:txBody>
      </p:sp>
      <p:sp>
        <p:nvSpPr>
          <p:cNvPr id="23" name="Text 18"/>
          <p:cNvSpPr/>
          <p:nvPr/>
        </p:nvSpPr>
        <p:spPr>
          <a:xfrm>
            <a:off x="7443788" y="3467338"/>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DAD1E6"/>
                </a:solidFill>
                <a:latin typeface="Fira Sans" pitchFamily="34" charset="0"/>
                <a:ea typeface="Fira Sans" pitchFamily="34" charset="-122"/>
                <a:cs typeface="Fira Sans" pitchFamily="34" charset="-120"/>
              </a:rPr>
              <a:t>The relative contribution of each factor to the overall risk score</a:t>
            </a:r>
            <a:endParaRPr lang="en-US" sz="750" dirty="0"/>
          </a:p>
        </p:txBody>
      </p:sp>
      <p:sp>
        <p:nvSpPr>
          <p:cNvPr id="24" name="Text 19"/>
          <p:cNvSpPr/>
          <p:nvPr/>
        </p:nvSpPr>
        <p:spPr>
          <a:xfrm>
            <a:off x="7443788" y="3660577"/>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dirty="0">
                <a:solidFill>
                  <a:srgbClr val="DAD1E6"/>
                </a:solidFill>
                <a:latin typeface="Fira Sans" pitchFamily="34" charset="0"/>
                <a:ea typeface="Fira Sans" pitchFamily="34" charset="-122"/>
                <a:cs typeface="Fira Sans" pitchFamily="34" charset="-120"/>
              </a:rPr>
              <a:t>Suggested areas of focus for the investigation</a:t>
            </a:r>
            <a:endParaRPr lang="en-US" sz="750" dirty="0"/>
          </a:p>
        </p:txBody>
      </p:sp>
      <p:sp>
        <p:nvSpPr>
          <p:cNvPr id="25" name="Text 20"/>
          <p:cNvSpPr/>
          <p:nvPr/>
        </p:nvSpPr>
        <p:spPr>
          <a:xfrm>
            <a:off x="7443788" y="3908465"/>
            <a:ext cx="6797397" cy="317183"/>
          </a:xfrm>
          <a:prstGeom prst="rect">
            <a:avLst/>
          </a:prstGeom>
          <a:noFill/>
          <a:ln/>
        </p:spPr>
        <p:txBody>
          <a:bodyPr wrap="square" lIns="0" tIns="0" rIns="0" bIns="0" rtlCol="0" anchor="t"/>
          <a:lstStyle/>
          <a:p>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This level of detail transforms the model from a black box into a </a:t>
            </a:r>
            <a:pPr algn="l" indent="0" marL="0">
              <a:lnSpc>
                <a:spcPts val="1250"/>
              </a:lnSpc>
              <a:buNone/>
            </a:pPr>
            <a:r>
              <a:rPr lang="en-US" sz="750" b="1" dirty="0">
                <a:solidFill>
                  <a:srgbClr val="F94CAF"/>
                </a:solidFill>
                <a:latin typeface="Fira Sans" pitchFamily="34" charset="0"/>
                <a:ea typeface="Fira Sans" pitchFamily="34" charset="-122"/>
                <a:cs typeface="Fira Sans" pitchFamily="34" charset="-120"/>
              </a:rPr>
              <a:t>decision support tool</a:t>
            </a:r>
            <a:pPr algn="l" indent="0" marL="0">
              <a:lnSpc>
                <a:spcPts val="1250"/>
              </a:lnSpc>
              <a:buNone/>
            </a:pPr>
            <a:r>
              <a:rPr lang="en-US" sz="750" dirty="0">
                <a:solidFill>
                  <a:srgbClr val="DAD1E6"/>
                </a:solidFill>
                <a:latin typeface="Fira Sans" pitchFamily="34" charset="0"/>
                <a:ea typeface="Fira Sans" pitchFamily="34" charset="-122"/>
                <a:cs typeface="Fira Sans" pitchFamily="34" charset="-120"/>
              </a:rPr>
              <a:t> that enhances investigator expertise rather than replacing human judgment.</a:t>
            </a:r>
            <a:endParaRPr lang="en-US" sz="750" dirty="0"/>
          </a:p>
        </p:txBody>
      </p:sp>
      <p:pic>
        <p:nvPicPr>
          <p:cNvPr id="26" name="Image 3" descr="preencoded.png">    </p:cNvPr>
          <p:cNvPicPr>
            <a:picLocks noChangeAspect="1"/>
          </p:cNvPicPr>
          <p:nvPr/>
        </p:nvPicPr>
        <p:blipFill>
          <a:blip r:embed="rId4"/>
          <a:stretch>
            <a:fillRect/>
          </a:stretch>
        </p:blipFill>
        <p:spPr>
          <a:xfrm>
            <a:off x="7443788" y="4337209"/>
            <a:ext cx="6797397" cy="6797397"/>
          </a:xfrm>
          <a:prstGeom prst="rect">
            <a:avLst/>
          </a:prstGeom>
        </p:spPr>
      </p:pic>
      <p:sp>
        <p:nvSpPr>
          <p:cNvPr id="27" name="Shape 21"/>
          <p:cNvSpPr/>
          <p:nvPr/>
        </p:nvSpPr>
        <p:spPr>
          <a:xfrm>
            <a:off x="396835" y="11357729"/>
            <a:ext cx="13836729" cy="579953"/>
          </a:xfrm>
          <a:prstGeom prst="roundRect">
            <a:avLst>
              <a:gd name="adj" fmla="val 2567"/>
            </a:avLst>
          </a:prstGeom>
          <a:solidFill>
            <a:srgbClr val="4A022B"/>
          </a:solidFill>
          <a:ln/>
        </p:spPr>
      </p:sp>
      <p:pic>
        <p:nvPicPr>
          <p:cNvPr id="28" name="Image 4" descr="preencoded.png">    </p:cNvPr>
          <p:cNvPicPr>
            <a:picLocks noChangeAspect="1"/>
          </p:cNvPicPr>
          <p:nvPr/>
        </p:nvPicPr>
        <p:blipFill>
          <a:blip r:embed="rId5"/>
          <a:stretch>
            <a:fillRect/>
          </a:stretch>
        </p:blipFill>
        <p:spPr>
          <a:xfrm>
            <a:off x="496014" y="11501557"/>
            <a:ext cx="123944" cy="99179"/>
          </a:xfrm>
          <a:prstGeom prst="rect">
            <a:avLst/>
          </a:prstGeom>
        </p:spPr>
      </p:pic>
      <p:sp>
        <p:nvSpPr>
          <p:cNvPr id="29" name="Text 22"/>
          <p:cNvSpPr/>
          <p:nvPr/>
        </p:nvSpPr>
        <p:spPr>
          <a:xfrm>
            <a:off x="719137" y="11481673"/>
            <a:ext cx="13415248" cy="317183"/>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Fira Sans" pitchFamily="34" charset="0"/>
                <a:ea typeface="Fira Sans" pitchFamily="34" charset="-122"/>
                <a:cs typeface="Fira Sans" pitchFamily="34" charset="-120"/>
              </a:rPr>
              <a:t>Regulatory Requirement:</a:t>
            </a:r>
            <a:pPr algn="l" indent="0" marL="0">
              <a:lnSpc>
                <a:spcPts val="1250"/>
              </a:lnSpc>
              <a:buNone/>
            </a:pPr>
            <a:r>
              <a:rPr lang="en-US" sz="750" dirty="0">
                <a:solidFill>
                  <a:srgbClr val="FFFFFF"/>
                </a:solidFill>
                <a:latin typeface="Fira Sans" pitchFamily="34" charset="0"/>
                <a:ea typeface="Fira Sans" pitchFamily="34" charset="-122"/>
                <a:cs typeface="Fira Sans" pitchFamily="34" charset="-120"/>
              </a:rPr>
              <a:t> The Office of Management and Budget's guidance on AI in federal agencies emphasizes that automated decision systems must provide meaningful explanations when they affect individual rights or access to government benefits—a standard our logistic regression approach fully satisfies.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2025-12-03T20:24:32Z</dcterms:created>
  <dcterms:modified xsi:type="dcterms:W3CDTF">2025-12-03T20:24:32Z</dcterms:modified>
</cp:coreProperties>
</file>